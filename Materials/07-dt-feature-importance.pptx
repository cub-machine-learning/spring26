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77" r:id="rId2"/>
    <p:sldId id="303" r:id="rId3"/>
    <p:sldId id="278" r:id="rId4"/>
    <p:sldId id="311" r:id="rId5"/>
    <p:sldId id="279" r:id="rId6"/>
    <p:sldId id="280" r:id="rId7"/>
    <p:sldId id="281" r:id="rId8"/>
    <p:sldId id="282" r:id="rId9"/>
    <p:sldId id="295" r:id="rId10"/>
    <p:sldId id="283" r:id="rId11"/>
    <p:sldId id="296" r:id="rId12"/>
    <p:sldId id="284" r:id="rId13"/>
    <p:sldId id="285" r:id="rId14"/>
    <p:sldId id="286" r:id="rId15"/>
    <p:sldId id="287" r:id="rId16"/>
    <p:sldId id="288" r:id="rId17"/>
    <p:sldId id="289" r:id="rId18"/>
    <p:sldId id="290" r:id="rId19"/>
    <p:sldId id="299" r:id="rId20"/>
    <p:sldId id="300" r:id="rId21"/>
    <p:sldId id="294" r:id="rId22"/>
    <p:sldId id="304" r:id="rId23"/>
    <p:sldId id="312" r:id="rId24"/>
    <p:sldId id="314" r:id="rId25"/>
    <p:sldId id="313" r:id="rId26"/>
    <p:sldId id="315" r:id="rId27"/>
    <p:sldId id="297" r:id="rId28"/>
    <p:sldId id="292" r:id="rId29"/>
    <p:sldId id="316" r:id="rId30"/>
    <p:sldId id="298" r:id="rId31"/>
    <p:sldId id="317" r:id="rId32"/>
    <p:sldId id="293" r:id="rId33"/>
    <p:sldId id="318" r:id="rId34"/>
    <p:sldId id="319" r:id="rId35"/>
    <p:sldId id="320" r:id="rId36"/>
    <p:sldId id="321" r:id="rId37"/>
    <p:sldId id="322" r:id="rId38"/>
    <p:sldId id="323" r:id="rId39"/>
    <p:sldId id="324" r:id="rId40"/>
    <p:sldId id="308" r:id="rId41"/>
    <p:sldId id="310" r:id="rId42"/>
    <p:sldId id="325" r:id="rId43"/>
    <p:sldId id="326" r:id="rId44"/>
    <p:sldId id="328" r:id="rId45"/>
    <p:sldId id="327" r:id="rId46"/>
    <p:sldId id="329" r:id="rId47"/>
    <p:sldId id="330" r:id="rId4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0719" autoAdjust="0"/>
  </p:normalViewPr>
  <p:slideViewPr>
    <p:cSldViewPr snapToGrid="0">
      <p:cViewPr varScale="1">
        <p:scale>
          <a:sx n="60" d="100"/>
          <a:sy n="60" d="100"/>
        </p:scale>
        <p:origin x="12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9A202F-4299-479C-B15E-F143261314E2}" type="datetimeFigureOut">
              <a:rPr lang="ru-RU" smtClean="0"/>
              <a:t>20.03.2026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C122-6047-4DF2-B658-83EED2B0EF10}" type="slidenum">
              <a:rPr lang="ru-RU" smtClean="0"/>
              <a:t>‹#›</a:t>
            </a:fld>
            <a:endParaRPr lang="ru-RU"/>
          </a:p>
        </p:txBody>
      </p:sp>
    </p:spTree>
    <p:extLst>
      <p:ext uri="{BB962C8B-B14F-4D97-AF65-F5344CB8AC3E}">
        <p14:creationId xmlns:p14="http://schemas.microsoft.com/office/powerpoint/2010/main" val="2672163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32C0110C-44BF-413A-8FA8-51FBC9510905}" type="datetimeFigureOut">
              <a:rPr lang="ru-RU" smtClean="0"/>
              <a:t>20.03.2026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821707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2C0110C-44BF-413A-8FA8-51FBC9510905}" type="datetimeFigureOut">
              <a:rPr lang="ru-RU" smtClean="0"/>
              <a:t>20.03.2026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769452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32C0110C-44BF-413A-8FA8-51FBC9510905}" type="datetimeFigureOut">
              <a:rPr lang="ru-RU" smtClean="0"/>
              <a:t>20.03.2026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099410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32C0110C-44BF-413A-8FA8-51FBC9510905}" type="datetimeFigureOut">
              <a:rPr lang="ru-RU" smtClean="0"/>
              <a:t>20.03.2026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148889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2C0110C-44BF-413A-8FA8-51FBC9510905}" type="datetimeFigureOut">
              <a:rPr lang="ru-RU" smtClean="0"/>
              <a:t>20.03.2026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4227192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32C0110C-44BF-413A-8FA8-51FBC9510905}" type="datetimeFigureOut">
              <a:rPr lang="ru-RU" smtClean="0"/>
              <a:t>20.03.2026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2545444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2C0110C-44BF-413A-8FA8-51FBC9510905}" type="datetimeFigureOut">
              <a:rPr lang="ru-RU" smtClean="0"/>
              <a:t>20.03.2026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704178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2C0110C-44BF-413A-8FA8-51FBC9510905}" type="datetimeFigureOut">
              <a:rPr lang="ru-RU" smtClean="0"/>
              <a:t>20.03.2026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362151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2C0110C-44BF-413A-8FA8-51FBC9510905}" type="datetimeFigureOut">
              <a:rPr lang="ru-RU" smtClean="0"/>
              <a:t>20.03.2026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2111558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2C0110C-44BF-413A-8FA8-51FBC9510905}" type="datetimeFigureOut">
              <a:rPr lang="ru-RU" smtClean="0"/>
              <a:t>20.03.2026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1462651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2C0110C-44BF-413A-8FA8-51FBC9510905}" type="datetimeFigureOut">
              <a:rPr lang="ru-RU" smtClean="0"/>
              <a:t>20.03.2026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CE6F2DD-97A6-4ADB-A4AD-00C5B7798F05}" type="slidenum">
              <a:rPr lang="ru-RU" smtClean="0"/>
              <a:t>‹#›</a:t>
            </a:fld>
            <a:endParaRPr lang="ru-RU"/>
          </a:p>
        </p:txBody>
      </p:sp>
    </p:spTree>
    <p:extLst>
      <p:ext uri="{BB962C8B-B14F-4D97-AF65-F5344CB8AC3E}">
        <p14:creationId xmlns:p14="http://schemas.microsoft.com/office/powerpoint/2010/main" val="1689767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C0110C-44BF-413A-8FA8-51FBC9510905}" type="datetimeFigureOut">
              <a:rPr lang="ru-RU" smtClean="0"/>
              <a:t>20.03.2026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E6F2DD-97A6-4ADB-A4AD-00C5B7798F05}" type="slidenum">
              <a:rPr lang="ru-RU" smtClean="0"/>
              <a:t>‹#›</a:t>
            </a:fld>
            <a:endParaRPr lang="ru-RU"/>
          </a:p>
        </p:txBody>
      </p:sp>
    </p:spTree>
    <p:extLst>
      <p:ext uri="{BB962C8B-B14F-4D97-AF65-F5344CB8AC3E}">
        <p14:creationId xmlns:p14="http://schemas.microsoft.com/office/powerpoint/2010/main" val="2363135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2.xml"/><Relationship Id="rId6" Type="http://schemas.openxmlformats.org/officeDocument/2006/relationships/image" Target="../media/image5.tmp"/><Relationship Id="rId5" Type="http://schemas.openxmlformats.org/officeDocument/2006/relationships/image" Target="../media/image4.tmp"/><Relationship Id="rId4" Type="http://schemas.openxmlformats.org/officeDocument/2006/relationships/image" Target="../media/image3.tmp"/></Relationships>
</file>

<file path=ppt/slides/_rels/slide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2.xml"/><Relationship Id="rId4" Type="http://schemas.openxmlformats.org/officeDocument/2006/relationships/image" Target="../media/image10.tmp"/></Relationships>
</file>

<file path=ppt/slides/_rels/slide8.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tmp"/><Relationship Id="rId1" Type="http://schemas.openxmlformats.org/officeDocument/2006/relationships/slideLayout" Target="../slideLayouts/slideLayout2.xml"/><Relationship Id="rId4" Type="http://schemas.openxmlformats.org/officeDocument/2006/relationships/image" Target="../media/image13.tmp"/></Relationships>
</file>

<file path=ppt/slides/_rels/slide9.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2.xml"/><Relationship Id="rId4" Type="http://schemas.openxmlformats.org/officeDocument/2006/relationships/image" Target="../media/image16.tmp"/></Relationships>
</file>

<file path=ppt/slides/_rels/slide10.xml.rels><?xml version="1.0" encoding="UTF-8" standalone="yes"?>
<Relationships xmlns="http://schemas.openxmlformats.org/package/2006/relationships"><Relationship Id="rId8" Type="http://schemas.openxmlformats.org/officeDocument/2006/relationships/image" Target="../media/image23.tmp"/><Relationship Id="rId3" Type="http://schemas.openxmlformats.org/officeDocument/2006/relationships/image" Target="../media/image18.tmp"/><Relationship Id="rId7" Type="http://schemas.openxmlformats.org/officeDocument/2006/relationships/image" Target="../media/image22.tmp"/><Relationship Id="rId2" Type="http://schemas.openxmlformats.org/officeDocument/2006/relationships/image" Target="../media/image17.tmp"/><Relationship Id="rId1" Type="http://schemas.openxmlformats.org/officeDocument/2006/relationships/slideLayout" Target="../slideLayouts/slideLayout2.xml"/><Relationship Id="rId6" Type="http://schemas.openxmlformats.org/officeDocument/2006/relationships/image" Target="../media/image21.tmp"/><Relationship Id="rId5" Type="http://schemas.openxmlformats.org/officeDocument/2006/relationships/image" Target="../media/image20.tmp"/><Relationship Id="rId4" Type="http://schemas.openxmlformats.org/officeDocument/2006/relationships/image" Target="../media/image19.tm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2.xml"/><Relationship Id="rId6" Type="http://schemas.openxmlformats.org/officeDocument/2006/relationships/image" Target="../media/image29.tmp"/><Relationship Id="rId5" Type="http://schemas.openxmlformats.org/officeDocument/2006/relationships/image" Target="../media/image28.tmp"/><Relationship Id="rId4" Type="http://schemas.openxmlformats.org/officeDocument/2006/relationships/image" Target="../media/image27.tmp"/></Relationships>
</file>

<file path=ppt/slides/_rels/slide14.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18.tmp"/><Relationship Id="rId1" Type="http://schemas.openxmlformats.org/officeDocument/2006/relationships/slideLayout" Target="../slideLayouts/slideLayout2.xml"/><Relationship Id="rId4" Type="http://schemas.openxmlformats.org/officeDocument/2006/relationships/image" Target="../media/image31.tmp"/></Relationships>
</file>

<file path=ppt/slides/_rels/slide15.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image" Target="../media/image32.tmp"/><Relationship Id="rId1" Type="http://schemas.openxmlformats.org/officeDocument/2006/relationships/slideLayout" Target="../slideLayouts/slideLayout2.xml"/><Relationship Id="rId5" Type="http://schemas.openxmlformats.org/officeDocument/2006/relationships/image" Target="../media/image35.tmp"/><Relationship Id="rId4" Type="http://schemas.openxmlformats.org/officeDocument/2006/relationships/image" Target="../media/image34.tmp"/></Relationships>
</file>

<file path=ppt/slides/_rels/slide16.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image" Target="../media/image36.tmp"/><Relationship Id="rId1" Type="http://schemas.openxmlformats.org/officeDocument/2006/relationships/slideLayout" Target="../slideLayouts/slideLayout2.xml"/><Relationship Id="rId6" Type="http://schemas.openxmlformats.org/officeDocument/2006/relationships/image" Target="../media/image40.tmp"/><Relationship Id="rId5" Type="http://schemas.openxmlformats.org/officeDocument/2006/relationships/image" Target="../media/image39.tmp"/><Relationship Id="rId4" Type="http://schemas.openxmlformats.org/officeDocument/2006/relationships/image" Target="../media/image38.tmp"/></Relationships>
</file>

<file path=ppt/slides/_rels/slide17.xml.rels><?xml version="1.0" encoding="UTF-8" standalone="yes"?>
<Relationships xmlns="http://schemas.openxmlformats.org/package/2006/relationships"><Relationship Id="rId8" Type="http://schemas.openxmlformats.org/officeDocument/2006/relationships/image" Target="../media/image46.tmp"/><Relationship Id="rId3" Type="http://schemas.openxmlformats.org/officeDocument/2006/relationships/image" Target="../media/image42.tmp"/><Relationship Id="rId7" Type="http://schemas.openxmlformats.org/officeDocument/2006/relationships/image" Target="../media/image45.tmp"/><Relationship Id="rId2" Type="http://schemas.openxmlformats.org/officeDocument/2006/relationships/image" Target="../media/image41.tmp"/><Relationship Id="rId1" Type="http://schemas.openxmlformats.org/officeDocument/2006/relationships/slideLayout" Target="../slideLayouts/slideLayout2.xml"/><Relationship Id="rId6" Type="http://schemas.openxmlformats.org/officeDocument/2006/relationships/image" Target="../media/image38.tmp"/><Relationship Id="rId5" Type="http://schemas.openxmlformats.org/officeDocument/2006/relationships/image" Target="../media/image44.tmp"/><Relationship Id="rId4" Type="http://schemas.openxmlformats.org/officeDocument/2006/relationships/image" Target="../media/image43.tmp"/><Relationship Id="rId9" Type="http://schemas.openxmlformats.org/officeDocument/2006/relationships/image" Target="../media/image47.tmp"/></Relationships>
</file>

<file path=ppt/slides/_rels/slide18.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image" Target="../media/image41.tmp"/><Relationship Id="rId1" Type="http://schemas.openxmlformats.org/officeDocument/2006/relationships/slideLayout" Target="../slideLayouts/slideLayout2.xml"/><Relationship Id="rId4" Type="http://schemas.openxmlformats.org/officeDocument/2006/relationships/image" Target="../media/image42.tmp"/></Relationships>
</file>

<file path=ppt/slides/_rels/slide19.xml.rels><?xml version="1.0" encoding="UTF-8" standalone="yes"?>
<Relationships xmlns="http://schemas.openxmlformats.org/package/2006/relationships"><Relationship Id="rId3" Type="http://schemas.openxmlformats.org/officeDocument/2006/relationships/image" Target="../media/image50.tmp"/><Relationship Id="rId2" Type="http://schemas.openxmlformats.org/officeDocument/2006/relationships/image" Target="../media/image49.tmp"/><Relationship Id="rId1" Type="http://schemas.openxmlformats.org/officeDocument/2006/relationships/slideLayout" Target="../slideLayouts/slideLayout2.xml"/><Relationship Id="rId6" Type="http://schemas.openxmlformats.org/officeDocument/2006/relationships/image" Target="../media/image53.tmp"/><Relationship Id="rId5" Type="http://schemas.openxmlformats.org/officeDocument/2006/relationships/image" Target="../media/image52.tmp"/><Relationship Id="rId4" Type="http://schemas.openxmlformats.org/officeDocument/2006/relationships/image" Target="../media/image51.tmp"/></Relationships>
</file>

<file path=ppt/slides/_rels/slide20.xml.rels><?xml version="1.0" encoding="UTF-8" standalone="yes"?>
<Relationships xmlns="http://schemas.openxmlformats.org/package/2006/relationships"><Relationship Id="rId3" Type="http://schemas.openxmlformats.org/officeDocument/2006/relationships/image" Target="../media/image55.tmp"/><Relationship Id="rId7" Type="http://schemas.openxmlformats.org/officeDocument/2006/relationships/image" Target="../media/image59.tmp"/><Relationship Id="rId2" Type="http://schemas.openxmlformats.org/officeDocument/2006/relationships/image" Target="../media/image54.tmp"/><Relationship Id="rId1" Type="http://schemas.openxmlformats.org/officeDocument/2006/relationships/slideLayout" Target="../slideLayouts/slideLayout2.xml"/><Relationship Id="rId6" Type="http://schemas.openxmlformats.org/officeDocument/2006/relationships/image" Target="../media/image58.tmp"/><Relationship Id="rId5" Type="http://schemas.openxmlformats.org/officeDocument/2006/relationships/image" Target="../media/image57.tmp"/><Relationship Id="rId4" Type="http://schemas.openxmlformats.org/officeDocument/2006/relationships/image" Target="../media/image56.tm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1.tmp"/><Relationship Id="rId2" Type="http://schemas.openxmlformats.org/officeDocument/2006/relationships/image" Target="../media/image60.tmp"/><Relationship Id="rId1" Type="http://schemas.openxmlformats.org/officeDocument/2006/relationships/slideLayout" Target="../slideLayouts/slideLayout2.xml"/><Relationship Id="rId5" Type="http://schemas.openxmlformats.org/officeDocument/2006/relationships/image" Target="../media/image63.tmp"/><Relationship Id="rId4" Type="http://schemas.openxmlformats.org/officeDocument/2006/relationships/image" Target="../media/image62.tmp"/></Relationships>
</file>

<file path=ppt/slides/_rels/slide23.xml.rels><?xml version="1.0" encoding="UTF-8" standalone="yes"?>
<Relationships xmlns="http://schemas.openxmlformats.org/package/2006/relationships"><Relationship Id="rId3" Type="http://schemas.openxmlformats.org/officeDocument/2006/relationships/image" Target="../media/image65.tmp"/><Relationship Id="rId2" Type="http://schemas.openxmlformats.org/officeDocument/2006/relationships/image" Target="../media/image64.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6.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7.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8.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image" Target="../media/image69.tmp"/><Relationship Id="rId1" Type="http://schemas.openxmlformats.org/officeDocument/2006/relationships/slideLayout" Target="../slideLayouts/slideLayout2.xml"/><Relationship Id="rId4" Type="http://schemas.openxmlformats.org/officeDocument/2006/relationships/image" Target="../media/image71.tmp"/></Relationships>
</file>

<file path=ppt/slides/_rels/slide30.xml.rels><?xml version="1.0" encoding="UTF-8" standalone="yes"?>
<Relationships xmlns="http://schemas.openxmlformats.org/package/2006/relationships"><Relationship Id="rId3" Type="http://schemas.openxmlformats.org/officeDocument/2006/relationships/image" Target="../media/image73.tmp"/><Relationship Id="rId2" Type="http://schemas.openxmlformats.org/officeDocument/2006/relationships/image" Target="../media/image72.tmp"/><Relationship Id="rId1" Type="http://schemas.openxmlformats.org/officeDocument/2006/relationships/slideLayout" Target="../slideLayouts/slideLayout2.xml"/><Relationship Id="rId5" Type="http://schemas.openxmlformats.org/officeDocument/2006/relationships/image" Target="../media/image75.tmp"/><Relationship Id="rId4" Type="http://schemas.openxmlformats.org/officeDocument/2006/relationships/image" Target="../media/image74.tmp"/></Relationships>
</file>

<file path=ppt/slides/_rels/slide31.xml.rels><?xml version="1.0" encoding="UTF-8" standalone="yes"?>
<Relationships xmlns="http://schemas.openxmlformats.org/package/2006/relationships"><Relationship Id="rId3" Type="http://schemas.openxmlformats.org/officeDocument/2006/relationships/image" Target="../media/image76.tmp"/><Relationship Id="rId2" Type="http://schemas.openxmlformats.org/officeDocument/2006/relationships/image" Target="../media/image75.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8.tmp"/><Relationship Id="rId2" Type="http://schemas.openxmlformats.org/officeDocument/2006/relationships/image" Target="../media/image77.tmp"/><Relationship Id="rId1" Type="http://schemas.openxmlformats.org/officeDocument/2006/relationships/slideLayout" Target="../slideLayouts/slideLayout2.xml"/><Relationship Id="rId4" Type="http://schemas.openxmlformats.org/officeDocument/2006/relationships/image" Target="../media/image15.tmp"/></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0.tmp"/><Relationship Id="rId2" Type="http://schemas.openxmlformats.org/officeDocument/2006/relationships/image" Target="../media/image79.tmp"/><Relationship Id="rId1" Type="http://schemas.openxmlformats.org/officeDocument/2006/relationships/slideLayout" Target="../slideLayouts/slideLayout2.xml"/><Relationship Id="rId5" Type="http://schemas.openxmlformats.org/officeDocument/2006/relationships/image" Target="../media/image82.tmp"/><Relationship Id="rId4" Type="http://schemas.openxmlformats.org/officeDocument/2006/relationships/image" Target="../media/image81.tmp"/></Relationships>
</file>

<file path=ppt/slides/_rels/slide35.xml.rels><?xml version="1.0" encoding="UTF-8" standalone="yes"?>
<Relationships xmlns="http://schemas.openxmlformats.org/package/2006/relationships"><Relationship Id="rId3" Type="http://schemas.openxmlformats.org/officeDocument/2006/relationships/image" Target="../media/image84.tmp"/><Relationship Id="rId2" Type="http://schemas.openxmlformats.org/officeDocument/2006/relationships/image" Target="../media/image83.tmp"/><Relationship Id="rId1" Type="http://schemas.openxmlformats.org/officeDocument/2006/relationships/slideLayout" Target="../slideLayouts/slideLayout2.xml"/><Relationship Id="rId5" Type="http://schemas.openxmlformats.org/officeDocument/2006/relationships/image" Target="../media/image86.tmp"/><Relationship Id="rId4" Type="http://schemas.openxmlformats.org/officeDocument/2006/relationships/image" Target="../media/image85.tmp"/></Relationships>
</file>

<file path=ppt/slides/_rels/slide36.xml.rels><?xml version="1.0" encoding="UTF-8" standalone="yes"?>
<Relationships xmlns="http://schemas.openxmlformats.org/package/2006/relationships"><Relationship Id="rId3" Type="http://schemas.openxmlformats.org/officeDocument/2006/relationships/image" Target="../media/image88.tmp"/><Relationship Id="rId2" Type="http://schemas.openxmlformats.org/officeDocument/2006/relationships/image" Target="../media/image87.tmp"/><Relationship Id="rId1" Type="http://schemas.openxmlformats.org/officeDocument/2006/relationships/slideLayout" Target="../slideLayouts/slideLayout2.xml"/><Relationship Id="rId6" Type="http://schemas.openxmlformats.org/officeDocument/2006/relationships/image" Target="../media/image91.tmp"/><Relationship Id="rId5" Type="http://schemas.openxmlformats.org/officeDocument/2006/relationships/image" Target="../media/image90.tmp"/><Relationship Id="rId4" Type="http://schemas.openxmlformats.org/officeDocument/2006/relationships/image" Target="../media/image89.tmp"/></Relationships>
</file>

<file path=ppt/slides/_rels/slide37.xml.rels><?xml version="1.0" encoding="UTF-8" standalone="yes"?>
<Relationships xmlns="http://schemas.openxmlformats.org/package/2006/relationships"><Relationship Id="rId3" Type="http://schemas.openxmlformats.org/officeDocument/2006/relationships/image" Target="../media/image93.tmp"/><Relationship Id="rId2" Type="http://schemas.openxmlformats.org/officeDocument/2006/relationships/image" Target="../media/image92.tmp"/><Relationship Id="rId1" Type="http://schemas.openxmlformats.org/officeDocument/2006/relationships/slideLayout" Target="../slideLayouts/slideLayout2.xml"/><Relationship Id="rId5" Type="http://schemas.openxmlformats.org/officeDocument/2006/relationships/image" Target="../media/image95.tmp"/><Relationship Id="rId4" Type="http://schemas.openxmlformats.org/officeDocument/2006/relationships/image" Target="../media/image94.tmp"/></Relationships>
</file>

<file path=ppt/slides/_rels/slide38.xml.rels><?xml version="1.0" encoding="UTF-8" standalone="yes"?>
<Relationships xmlns="http://schemas.openxmlformats.org/package/2006/relationships"><Relationship Id="rId3" Type="http://schemas.openxmlformats.org/officeDocument/2006/relationships/image" Target="../media/image88.tmp"/><Relationship Id="rId2" Type="http://schemas.openxmlformats.org/officeDocument/2006/relationships/image" Target="../media/image87.tmp"/><Relationship Id="rId1" Type="http://schemas.openxmlformats.org/officeDocument/2006/relationships/slideLayout" Target="../slideLayouts/slideLayout2.xml"/><Relationship Id="rId6" Type="http://schemas.openxmlformats.org/officeDocument/2006/relationships/image" Target="../media/image97.tmp"/><Relationship Id="rId5" Type="http://schemas.openxmlformats.org/officeDocument/2006/relationships/image" Target="../media/image96.tmp"/><Relationship Id="rId4" Type="http://schemas.openxmlformats.org/officeDocument/2006/relationships/image" Target="../media/image89.tm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0.tmp"/><Relationship Id="rId2" Type="http://schemas.openxmlformats.org/officeDocument/2006/relationships/image" Target="../media/image99.tmp"/><Relationship Id="rId1" Type="http://schemas.openxmlformats.org/officeDocument/2006/relationships/slideLayout" Target="../slideLayouts/slideLayout2.xml"/><Relationship Id="rId4" Type="http://schemas.openxmlformats.org/officeDocument/2006/relationships/image" Target="../media/image101.tmp"/></Relationships>
</file>

<file path=ppt/slides/_rels/slide42.xml.rels><?xml version="1.0" encoding="UTF-8" standalone="yes"?>
<Relationships xmlns="http://schemas.openxmlformats.org/package/2006/relationships"><Relationship Id="rId3" Type="http://schemas.openxmlformats.org/officeDocument/2006/relationships/image" Target="../media/image103.tmp"/><Relationship Id="rId2" Type="http://schemas.openxmlformats.org/officeDocument/2006/relationships/image" Target="../media/image102.tmp"/><Relationship Id="rId1" Type="http://schemas.openxmlformats.org/officeDocument/2006/relationships/slideLayout" Target="../slideLayouts/slideLayout2.xml"/><Relationship Id="rId4" Type="http://schemas.openxmlformats.org/officeDocument/2006/relationships/image" Target="../media/image104.tmp"/></Relationships>
</file>

<file path=ppt/slides/_rels/slide43.xml.rels><?xml version="1.0" encoding="UTF-8" standalone="yes"?>
<Relationships xmlns="http://schemas.openxmlformats.org/package/2006/relationships"><Relationship Id="rId3" Type="http://schemas.openxmlformats.org/officeDocument/2006/relationships/image" Target="../media/image106.tmp"/><Relationship Id="rId2" Type="http://schemas.openxmlformats.org/officeDocument/2006/relationships/image" Target="../media/image105.tmp"/><Relationship Id="rId1" Type="http://schemas.openxmlformats.org/officeDocument/2006/relationships/slideLayout" Target="../slideLayouts/slideLayout2.xml"/><Relationship Id="rId5" Type="http://schemas.openxmlformats.org/officeDocument/2006/relationships/image" Target="../media/image108.tmp"/><Relationship Id="rId4" Type="http://schemas.openxmlformats.org/officeDocument/2006/relationships/image" Target="../media/image107.tmp"/></Relationships>
</file>

<file path=ppt/slides/_rels/slide44.xml.rels><?xml version="1.0" encoding="UTF-8" standalone="yes"?>
<Relationships xmlns="http://schemas.openxmlformats.org/package/2006/relationships"><Relationship Id="rId2" Type="http://schemas.openxmlformats.org/officeDocument/2006/relationships/image" Target="../media/image109.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0.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1.tm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2.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E55AB-6FBF-B0C9-8397-B1AFFFCA70D1}"/>
              </a:ext>
            </a:extLst>
          </p:cNvPr>
          <p:cNvSpPr>
            <a:spLocks noGrp="1"/>
          </p:cNvSpPr>
          <p:nvPr>
            <p:ph type="ctrTitle"/>
          </p:nvPr>
        </p:nvSpPr>
        <p:spPr>
          <a:xfrm>
            <a:off x="1524000" y="2008188"/>
            <a:ext cx="9144000" cy="2387600"/>
          </a:xfrm>
        </p:spPr>
        <p:txBody>
          <a:bodyPr>
            <a:noAutofit/>
          </a:bodyPr>
          <a:lstStyle/>
          <a:p>
            <a:r>
              <a:rPr lang="en-US" dirty="0"/>
              <a:t>Decision Trees</a:t>
            </a:r>
            <a:br>
              <a:rPr lang="en-US" dirty="0"/>
            </a:br>
            <a:br>
              <a:rPr lang="en-US" dirty="0"/>
            </a:br>
            <a:r>
              <a:rPr lang="en-US" dirty="0"/>
              <a:t>Feature Importance</a:t>
            </a:r>
            <a:endParaRPr lang="ru-RU" dirty="0"/>
          </a:p>
        </p:txBody>
      </p:sp>
    </p:spTree>
    <p:extLst>
      <p:ext uri="{BB962C8B-B14F-4D97-AF65-F5344CB8AC3E}">
        <p14:creationId xmlns:p14="http://schemas.microsoft.com/office/powerpoint/2010/main" val="1620540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1FE14D-4FAF-DA8F-EE85-471694C555EA}"/>
              </a:ext>
            </a:extLst>
          </p:cNvPr>
          <p:cNvSpPr>
            <a:spLocks noGrp="1"/>
          </p:cNvSpPr>
          <p:nvPr>
            <p:ph type="title"/>
          </p:nvPr>
        </p:nvSpPr>
        <p:spPr/>
        <p:txBody>
          <a:bodyPr/>
          <a:lstStyle/>
          <a:p>
            <a:r>
              <a:rPr lang="en-US" dirty="0"/>
              <a:t>Decision Trees Motivation</a:t>
            </a:r>
            <a:endParaRPr lang="ru-RU" dirty="0"/>
          </a:p>
        </p:txBody>
      </p:sp>
      <p:sp>
        <p:nvSpPr>
          <p:cNvPr id="3" name="Объект 2">
            <a:extLst>
              <a:ext uri="{FF2B5EF4-FFF2-40B4-BE49-F238E27FC236}">
                <a16:creationId xmlns:a16="http://schemas.microsoft.com/office/drawing/2014/main" id="{2A3BA6E8-50F5-BD3A-1E89-A3D8B4F89826}"/>
              </a:ext>
            </a:extLst>
          </p:cNvPr>
          <p:cNvSpPr>
            <a:spLocks noGrp="1"/>
          </p:cNvSpPr>
          <p:nvPr>
            <p:ph idx="1"/>
          </p:nvPr>
        </p:nvSpPr>
        <p:spPr/>
        <p:txBody>
          <a:bodyPr/>
          <a:lstStyle/>
          <a:p>
            <a:r>
              <a:rPr lang="en-US" dirty="0"/>
              <a:t>Gives interpretable solution from human point of view</a:t>
            </a:r>
          </a:p>
          <a:p>
            <a:r>
              <a:rPr lang="en-US" dirty="0"/>
              <a:t>Directly deals with categorical features and missing feature values</a:t>
            </a:r>
          </a:p>
          <a:p>
            <a:r>
              <a:rPr lang="en-US" dirty="0"/>
              <a:t>A building block in composition algorithms like Random Forest and Gradient Boosting</a:t>
            </a:r>
            <a:endParaRPr lang="ru-RU" dirty="0"/>
          </a:p>
        </p:txBody>
      </p:sp>
    </p:spTree>
    <p:extLst>
      <p:ext uri="{BB962C8B-B14F-4D97-AF65-F5344CB8AC3E}">
        <p14:creationId xmlns:p14="http://schemas.microsoft.com/office/powerpoint/2010/main" val="1018799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D31AC4-242B-6306-AB63-102D9C747C5F}"/>
              </a:ext>
            </a:extLst>
          </p:cNvPr>
          <p:cNvSpPr>
            <a:spLocks noGrp="1"/>
          </p:cNvSpPr>
          <p:nvPr>
            <p:ph type="title"/>
          </p:nvPr>
        </p:nvSpPr>
        <p:spPr/>
        <p:txBody>
          <a:bodyPr/>
          <a:lstStyle/>
          <a:p>
            <a:r>
              <a:rPr lang="en-US" dirty="0"/>
              <a:t>Introduction to Decision Trees</a:t>
            </a:r>
            <a:endParaRPr lang="ru-RU" dirty="0"/>
          </a:p>
        </p:txBody>
      </p:sp>
      <p:sp>
        <p:nvSpPr>
          <p:cNvPr id="8" name="TextBox 7">
            <a:extLst>
              <a:ext uri="{FF2B5EF4-FFF2-40B4-BE49-F238E27FC236}">
                <a16:creationId xmlns:a16="http://schemas.microsoft.com/office/drawing/2014/main" id="{DE04636D-98CF-775B-1A85-3563855AA7D1}"/>
              </a:ext>
            </a:extLst>
          </p:cNvPr>
          <p:cNvSpPr txBox="1"/>
          <p:nvPr/>
        </p:nvSpPr>
        <p:spPr>
          <a:xfrm>
            <a:off x="838200" y="1507710"/>
            <a:ext cx="7329827" cy="523220"/>
          </a:xfrm>
          <a:prstGeom prst="rect">
            <a:avLst/>
          </a:prstGeom>
          <a:noFill/>
        </p:spPr>
        <p:txBody>
          <a:bodyPr wrap="none" rtlCol="0">
            <a:spAutoFit/>
          </a:bodyPr>
          <a:lstStyle/>
          <a:p>
            <a:r>
              <a:rPr lang="en-US" sz="2800" dirty="0"/>
              <a:t>Example: job interview for Data Scientist position</a:t>
            </a:r>
            <a:endParaRPr lang="ru-RU" sz="2800" dirty="0"/>
          </a:p>
        </p:txBody>
      </p:sp>
      <p:sp>
        <p:nvSpPr>
          <p:cNvPr id="4" name="Прямоугольник 3">
            <a:extLst>
              <a:ext uri="{FF2B5EF4-FFF2-40B4-BE49-F238E27FC236}">
                <a16:creationId xmlns:a16="http://schemas.microsoft.com/office/drawing/2014/main" id="{3367CC04-7812-275E-2602-6529215DA2ED}"/>
              </a:ext>
            </a:extLst>
          </p:cNvPr>
          <p:cNvSpPr/>
          <p:nvPr/>
        </p:nvSpPr>
        <p:spPr>
          <a:xfrm>
            <a:off x="4104166" y="2310053"/>
            <a:ext cx="3657601"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Logistic Regression?</a:t>
            </a:r>
            <a:endParaRPr lang="ru-RU" sz="2800" dirty="0"/>
          </a:p>
        </p:txBody>
      </p:sp>
      <p:sp>
        <p:nvSpPr>
          <p:cNvPr id="6" name="Прямоугольник 5">
            <a:extLst>
              <a:ext uri="{FF2B5EF4-FFF2-40B4-BE49-F238E27FC236}">
                <a16:creationId xmlns:a16="http://schemas.microsoft.com/office/drawing/2014/main" id="{488C4867-D64E-E0EA-D7B6-7B566DB7D8C8}"/>
              </a:ext>
            </a:extLst>
          </p:cNvPr>
          <p:cNvSpPr/>
          <p:nvPr/>
        </p:nvSpPr>
        <p:spPr>
          <a:xfrm>
            <a:off x="838200" y="3517760"/>
            <a:ext cx="3845444" cy="11320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Overfitting effect in ML and how to cope with it?</a:t>
            </a:r>
            <a:endParaRPr lang="ru-RU" sz="2800" dirty="0"/>
          </a:p>
        </p:txBody>
      </p:sp>
      <p:sp>
        <p:nvSpPr>
          <p:cNvPr id="9" name="Прямоугольник 8">
            <a:extLst>
              <a:ext uri="{FF2B5EF4-FFF2-40B4-BE49-F238E27FC236}">
                <a16:creationId xmlns:a16="http://schemas.microsoft.com/office/drawing/2014/main" id="{0D207DB6-8301-B0EA-1E9C-F2EFD0906B55}"/>
              </a:ext>
            </a:extLst>
          </p:cNvPr>
          <p:cNvSpPr/>
          <p:nvPr/>
        </p:nvSpPr>
        <p:spPr>
          <a:xfrm>
            <a:off x="7254947" y="3507941"/>
            <a:ext cx="3657601" cy="993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Dual optimization problem?</a:t>
            </a:r>
            <a:endParaRPr lang="ru-RU" sz="2800" dirty="0"/>
          </a:p>
        </p:txBody>
      </p:sp>
      <p:cxnSp>
        <p:nvCxnSpPr>
          <p:cNvPr id="12" name="Прямая со стрелкой 11">
            <a:extLst>
              <a:ext uri="{FF2B5EF4-FFF2-40B4-BE49-F238E27FC236}">
                <a16:creationId xmlns:a16="http://schemas.microsoft.com/office/drawing/2014/main" id="{2773E4E7-9EFA-87EE-D5F8-8C50183C003A}"/>
              </a:ext>
            </a:extLst>
          </p:cNvPr>
          <p:cNvCxnSpPr>
            <a:cxnSpLocks/>
            <a:endCxn id="6" idx="0"/>
          </p:cNvCxnSpPr>
          <p:nvPr/>
        </p:nvCxnSpPr>
        <p:spPr>
          <a:xfrm flipH="1">
            <a:off x="2760922" y="2833273"/>
            <a:ext cx="2200055" cy="684487"/>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Прямая со стрелкой 20">
            <a:extLst>
              <a:ext uri="{FF2B5EF4-FFF2-40B4-BE49-F238E27FC236}">
                <a16:creationId xmlns:a16="http://schemas.microsoft.com/office/drawing/2014/main" id="{D8FDEE22-030B-DE29-F6E4-9F169F518908}"/>
              </a:ext>
            </a:extLst>
          </p:cNvPr>
          <p:cNvCxnSpPr>
            <a:cxnSpLocks/>
            <a:endCxn id="9" idx="0"/>
          </p:cNvCxnSpPr>
          <p:nvPr/>
        </p:nvCxnSpPr>
        <p:spPr>
          <a:xfrm>
            <a:off x="6766738" y="2833273"/>
            <a:ext cx="2317010" cy="67466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Прямая со стрелкой 22">
            <a:extLst>
              <a:ext uri="{FF2B5EF4-FFF2-40B4-BE49-F238E27FC236}">
                <a16:creationId xmlns:a16="http://schemas.microsoft.com/office/drawing/2014/main" id="{0C7A3F9C-DA54-A21C-576C-CFB00355D7CC}"/>
              </a:ext>
            </a:extLst>
          </p:cNvPr>
          <p:cNvCxnSpPr>
            <a:cxnSpLocks/>
          </p:cNvCxnSpPr>
          <p:nvPr/>
        </p:nvCxnSpPr>
        <p:spPr>
          <a:xfrm flipH="1">
            <a:off x="1410586" y="4649823"/>
            <a:ext cx="510362" cy="499731"/>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348F321F-0178-60F1-2637-E20B715624D6}"/>
              </a:ext>
            </a:extLst>
          </p:cNvPr>
          <p:cNvSpPr txBox="1"/>
          <p:nvPr/>
        </p:nvSpPr>
        <p:spPr>
          <a:xfrm>
            <a:off x="866142" y="5258666"/>
            <a:ext cx="1088888" cy="523220"/>
          </a:xfrm>
          <a:prstGeom prst="rect">
            <a:avLst/>
          </a:prstGeom>
          <a:noFill/>
        </p:spPr>
        <p:txBody>
          <a:bodyPr wrap="none" rtlCol="0">
            <a:spAutoFit/>
          </a:bodyPr>
          <a:lstStyle/>
          <a:p>
            <a:r>
              <a:rPr lang="en-US" sz="2800" dirty="0"/>
              <a:t>Reject</a:t>
            </a:r>
            <a:endParaRPr lang="ru-RU" sz="2800" dirty="0"/>
          </a:p>
        </p:txBody>
      </p:sp>
      <p:cxnSp>
        <p:nvCxnSpPr>
          <p:cNvPr id="27" name="Прямая со стрелкой 26">
            <a:extLst>
              <a:ext uri="{FF2B5EF4-FFF2-40B4-BE49-F238E27FC236}">
                <a16:creationId xmlns:a16="http://schemas.microsoft.com/office/drawing/2014/main" id="{EABE1D81-9EAB-80BC-F31A-014FB04AFB96}"/>
              </a:ext>
            </a:extLst>
          </p:cNvPr>
          <p:cNvCxnSpPr>
            <a:cxnSpLocks/>
          </p:cNvCxnSpPr>
          <p:nvPr/>
        </p:nvCxnSpPr>
        <p:spPr>
          <a:xfrm>
            <a:off x="9962707" y="4501781"/>
            <a:ext cx="372140" cy="6477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0BDFA495-B498-5A3A-A581-82FEB866435D}"/>
              </a:ext>
            </a:extLst>
          </p:cNvPr>
          <p:cNvSpPr txBox="1"/>
          <p:nvPr/>
        </p:nvSpPr>
        <p:spPr>
          <a:xfrm>
            <a:off x="8525541" y="5258666"/>
            <a:ext cx="3724942" cy="954107"/>
          </a:xfrm>
          <a:prstGeom prst="rect">
            <a:avLst/>
          </a:prstGeom>
          <a:noFill/>
        </p:spPr>
        <p:txBody>
          <a:bodyPr wrap="square" rtlCol="0">
            <a:spAutoFit/>
          </a:bodyPr>
          <a:lstStyle/>
          <a:p>
            <a:r>
              <a:rPr lang="en-US" sz="2800" dirty="0"/>
              <a:t>Can be recommended to Research Department</a:t>
            </a:r>
            <a:endParaRPr lang="ru-RU" sz="2800" dirty="0"/>
          </a:p>
        </p:txBody>
      </p:sp>
      <p:sp>
        <p:nvSpPr>
          <p:cNvPr id="35" name="TextBox 34">
            <a:extLst>
              <a:ext uri="{FF2B5EF4-FFF2-40B4-BE49-F238E27FC236}">
                <a16:creationId xmlns:a16="http://schemas.microsoft.com/office/drawing/2014/main" id="{195E220A-B142-9165-37E6-DC6E1493B33D}"/>
              </a:ext>
            </a:extLst>
          </p:cNvPr>
          <p:cNvSpPr txBox="1"/>
          <p:nvPr/>
        </p:nvSpPr>
        <p:spPr>
          <a:xfrm>
            <a:off x="5349950" y="5258665"/>
            <a:ext cx="2788099" cy="954107"/>
          </a:xfrm>
          <a:prstGeom prst="rect">
            <a:avLst/>
          </a:prstGeom>
          <a:noFill/>
        </p:spPr>
        <p:txBody>
          <a:bodyPr wrap="square" rtlCol="0">
            <a:spAutoFit/>
          </a:bodyPr>
          <a:lstStyle/>
          <a:p>
            <a:r>
              <a:rPr lang="en-US" sz="2800" dirty="0"/>
              <a:t>Further interview for Data Engineer</a:t>
            </a:r>
            <a:endParaRPr lang="ru-RU" sz="2800" dirty="0"/>
          </a:p>
        </p:txBody>
      </p:sp>
      <p:cxnSp>
        <p:nvCxnSpPr>
          <p:cNvPr id="36" name="Прямая со стрелкой 35">
            <a:extLst>
              <a:ext uri="{FF2B5EF4-FFF2-40B4-BE49-F238E27FC236}">
                <a16:creationId xmlns:a16="http://schemas.microsoft.com/office/drawing/2014/main" id="{33149B07-ECAF-690A-2BCF-32F03E437B2D}"/>
              </a:ext>
            </a:extLst>
          </p:cNvPr>
          <p:cNvCxnSpPr>
            <a:cxnSpLocks/>
          </p:cNvCxnSpPr>
          <p:nvPr/>
        </p:nvCxnSpPr>
        <p:spPr>
          <a:xfrm flipH="1">
            <a:off x="7117613" y="4501781"/>
            <a:ext cx="1080089" cy="6477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Прямая со стрелкой 38">
            <a:extLst>
              <a:ext uri="{FF2B5EF4-FFF2-40B4-BE49-F238E27FC236}">
                <a16:creationId xmlns:a16="http://schemas.microsoft.com/office/drawing/2014/main" id="{C7E181F7-5384-EB25-ABDC-84F09CAF7A47}"/>
              </a:ext>
            </a:extLst>
          </p:cNvPr>
          <p:cNvCxnSpPr>
            <a:cxnSpLocks/>
          </p:cNvCxnSpPr>
          <p:nvPr/>
        </p:nvCxnSpPr>
        <p:spPr>
          <a:xfrm>
            <a:off x="3232501" y="4610892"/>
            <a:ext cx="372140" cy="6477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TextBox 39">
            <a:extLst>
              <a:ext uri="{FF2B5EF4-FFF2-40B4-BE49-F238E27FC236}">
                <a16:creationId xmlns:a16="http://schemas.microsoft.com/office/drawing/2014/main" id="{FE673918-28A3-30A9-B76C-CDE0D1A66875}"/>
              </a:ext>
            </a:extLst>
          </p:cNvPr>
          <p:cNvSpPr txBox="1"/>
          <p:nvPr/>
        </p:nvSpPr>
        <p:spPr>
          <a:xfrm>
            <a:off x="2630467" y="5265901"/>
            <a:ext cx="2330510" cy="954107"/>
          </a:xfrm>
          <a:prstGeom prst="rect">
            <a:avLst/>
          </a:prstGeom>
          <a:noFill/>
        </p:spPr>
        <p:txBody>
          <a:bodyPr wrap="square" rtlCol="0">
            <a:spAutoFit/>
          </a:bodyPr>
          <a:lstStyle/>
          <a:p>
            <a:r>
              <a:rPr lang="en-US" sz="2800" dirty="0"/>
              <a:t>Further first-step interview</a:t>
            </a:r>
            <a:endParaRPr lang="ru-RU" sz="2800" dirty="0"/>
          </a:p>
        </p:txBody>
      </p:sp>
      <p:sp>
        <p:nvSpPr>
          <p:cNvPr id="41" name="TextBox 40">
            <a:extLst>
              <a:ext uri="{FF2B5EF4-FFF2-40B4-BE49-F238E27FC236}">
                <a16:creationId xmlns:a16="http://schemas.microsoft.com/office/drawing/2014/main" id="{31C64580-C84C-EB1C-742A-CB76AF209EE3}"/>
              </a:ext>
            </a:extLst>
          </p:cNvPr>
          <p:cNvSpPr txBox="1"/>
          <p:nvPr/>
        </p:nvSpPr>
        <p:spPr>
          <a:xfrm>
            <a:off x="8092154" y="2684528"/>
            <a:ext cx="661207" cy="523220"/>
          </a:xfrm>
          <a:prstGeom prst="rect">
            <a:avLst/>
          </a:prstGeom>
          <a:noFill/>
        </p:spPr>
        <p:txBody>
          <a:bodyPr wrap="none" rtlCol="0">
            <a:spAutoFit/>
          </a:bodyPr>
          <a:lstStyle/>
          <a:p>
            <a:r>
              <a:rPr lang="en-US" sz="2800" dirty="0"/>
              <a:t>yes</a:t>
            </a:r>
            <a:endParaRPr lang="ru-RU" sz="2800" dirty="0"/>
          </a:p>
        </p:txBody>
      </p:sp>
      <p:sp>
        <p:nvSpPr>
          <p:cNvPr id="42" name="TextBox 41">
            <a:extLst>
              <a:ext uri="{FF2B5EF4-FFF2-40B4-BE49-F238E27FC236}">
                <a16:creationId xmlns:a16="http://schemas.microsoft.com/office/drawing/2014/main" id="{2A17B721-74C6-56CE-BC99-2A1E0D110865}"/>
              </a:ext>
            </a:extLst>
          </p:cNvPr>
          <p:cNvSpPr txBox="1"/>
          <p:nvPr/>
        </p:nvSpPr>
        <p:spPr>
          <a:xfrm>
            <a:off x="10282461" y="4473248"/>
            <a:ext cx="661207" cy="523220"/>
          </a:xfrm>
          <a:prstGeom prst="rect">
            <a:avLst/>
          </a:prstGeom>
          <a:noFill/>
        </p:spPr>
        <p:txBody>
          <a:bodyPr wrap="none" rtlCol="0">
            <a:spAutoFit/>
          </a:bodyPr>
          <a:lstStyle/>
          <a:p>
            <a:r>
              <a:rPr lang="en-US" sz="2800" dirty="0"/>
              <a:t>yes</a:t>
            </a:r>
            <a:endParaRPr lang="ru-RU" sz="2800" dirty="0"/>
          </a:p>
        </p:txBody>
      </p:sp>
      <p:sp>
        <p:nvSpPr>
          <p:cNvPr id="43" name="TextBox 42">
            <a:extLst>
              <a:ext uri="{FF2B5EF4-FFF2-40B4-BE49-F238E27FC236}">
                <a16:creationId xmlns:a16="http://schemas.microsoft.com/office/drawing/2014/main" id="{06A6B772-6317-C72A-37DE-4196D3184CF1}"/>
              </a:ext>
            </a:extLst>
          </p:cNvPr>
          <p:cNvSpPr txBox="1"/>
          <p:nvPr/>
        </p:nvSpPr>
        <p:spPr>
          <a:xfrm>
            <a:off x="3232747" y="2709584"/>
            <a:ext cx="562975" cy="523220"/>
          </a:xfrm>
          <a:prstGeom prst="rect">
            <a:avLst/>
          </a:prstGeom>
          <a:noFill/>
        </p:spPr>
        <p:txBody>
          <a:bodyPr wrap="none" rtlCol="0">
            <a:spAutoFit/>
          </a:bodyPr>
          <a:lstStyle/>
          <a:p>
            <a:r>
              <a:rPr lang="en-US" sz="2800" dirty="0"/>
              <a:t>no</a:t>
            </a:r>
            <a:endParaRPr lang="ru-RU" sz="2800" dirty="0"/>
          </a:p>
        </p:txBody>
      </p:sp>
      <p:sp>
        <p:nvSpPr>
          <p:cNvPr id="44" name="TextBox 43">
            <a:extLst>
              <a:ext uri="{FF2B5EF4-FFF2-40B4-BE49-F238E27FC236}">
                <a16:creationId xmlns:a16="http://schemas.microsoft.com/office/drawing/2014/main" id="{11717E4E-B19E-162A-3B62-E715D848B02E}"/>
              </a:ext>
            </a:extLst>
          </p:cNvPr>
          <p:cNvSpPr txBox="1"/>
          <p:nvPr/>
        </p:nvSpPr>
        <p:spPr>
          <a:xfrm>
            <a:off x="798532" y="4638078"/>
            <a:ext cx="562975" cy="523220"/>
          </a:xfrm>
          <a:prstGeom prst="rect">
            <a:avLst/>
          </a:prstGeom>
          <a:noFill/>
        </p:spPr>
        <p:txBody>
          <a:bodyPr wrap="none" rtlCol="0">
            <a:spAutoFit/>
          </a:bodyPr>
          <a:lstStyle/>
          <a:p>
            <a:r>
              <a:rPr lang="en-US" sz="2800" dirty="0"/>
              <a:t>no</a:t>
            </a:r>
            <a:endParaRPr lang="ru-RU" sz="2800" dirty="0"/>
          </a:p>
        </p:txBody>
      </p:sp>
      <p:sp>
        <p:nvSpPr>
          <p:cNvPr id="45" name="TextBox 44">
            <a:extLst>
              <a:ext uri="{FF2B5EF4-FFF2-40B4-BE49-F238E27FC236}">
                <a16:creationId xmlns:a16="http://schemas.microsoft.com/office/drawing/2014/main" id="{D3FFD0AB-737C-9686-3383-74A37F3BC0F5}"/>
              </a:ext>
            </a:extLst>
          </p:cNvPr>
          <p:cNvSpPr txBox="1"/>
          <p:nvPr/>
        </p:nvSpPr>
        <p:spPr>
          <a:xfrm>
            <a:off x="6676249" y="4503464"/>
            <a:ext cx="562975" cy="523220"/>
          </a:xfrm>
          <a:prstGeom prst="rect">
            <a:avLst/>
          </a:prstGeom>
          <a:noFill/>
        </p:spPr>
        <p:txBody>
          <a:bodyPr wrap="none" rtlCol="0">
            <a:spAutoFit/>
          </a:bodyPr>
          <a:lstStyle/>
          <a:p>
            <a:r>
              <a:rPr lang="en-US" sz="2800" dirty="0"/>
              <a:t>no</a:t>
            </a:r>
            <a:endParaRPr lang="ru-RU" sz="2800" dirty="0"/>
          </a:p>
        </p:txBody>
      </p:sp>
      <p:sp>
        <p:nvSpPr>
          <p:cNvPr id="46" name="TextBox 45">
            <a:extLst>
              <a:ext uri="{FF2B5EF4-FFF2-40B4-BE49-F238E27FC236}">
                <a16:creationId xmlns:a16="http://schemas.microsoft.com/office/drawing/2014/main" id="{AA25E2C8-0644-9450-8168-82E766FA93D8}"/>
              </a:ext>
            </a:extLst>
          </p:cNvPr>
          <p:cNvSpPr txBox="1"/>
          <p:nvPr/>
        </p:nvSpPr>
        <p:spPr>
          <a:xfrm>
            <a:off x="3706548" y="4673168"/>
            <a:ext cx="661207" cy="523220"/>
          </a:xfrm>
          <a:prstGeom prst="rect">
            <a:avLst/>
          </a:prstGeom>
          <a:noFill/>
        </p:spPr>
        <p:txBody>
          <a:bodyPr wrap="none" rtlCol="0">
            <a:spAutoFit/>
          </a:bodyPr>
          <a:lstStyle/>
          <a:p>
            <a:r>
              <a:rPr lang="en-US" sz="2800" dirty="0"/>
              <a:t>yes</a:t>
            </a:r>
            <a:endParaRPr lang="ru-RU" sz="2800" dirty="0"/>
          </a:p>
        </p:txBody>
      </p:sp>
    </p:spTree>
    <p:extLst>
      <p:ext uri="{BB962C8B-B14F-4D97-AF65-F5344CB8AC3E}">
        <p14:creationId xmlns:p14="http://schemas.microsoft.com/office/powerpoint/2010/main" val="3883235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D31AC4-242B-6306-AB63-102D9C747C5F}"/>
              </a:ext>
            </a:extLst>
          </p:cNvPr>
          <p:cNvSpPr>
            <a:spLocks noGrp="1"/>
          </p:cNvSpPr>
          <p:nvPr>
            <p:ph type="title"/>
          </p:nvPr>
        </p:nvSpPr>
        <p:spPr/>
        <p:txBody>
          <a:bodyPr/>
          <a:lstStyle/>
          <a:p>
            <a:r>
              <a:rPr lang="en-US" dirty="0"/>
              <a:t>Introduction to Decision Trees</a:t>
            </a:r>
            <a:endParaRPr lang="ru-RU" dirty="0"/>
          </a:p>
        </p:txBody>
      </p:sp>
      <p:sp>
        <p:nvSpPr>
          <p:cNvPr id="8" name="TextBox 7">
            <a:extLst>
              <a:ext uri="{FF2B5EF4-FFF2-40B4-BE49-F238E27FC236}">
                <a16:creationId xmlns:a16="http://schemas.microsoft.com/office/drawing/2014/main" id="{DE04636D-98CF-775B-1A85-3563855AA7D1}"/>
              </a:ext>
            </a:extLst>
          </p:cNvPr>
          <p:cNvSpPr txBox="1"/>
          <p:nvPr/>
        </p:nvSpPr>
        <p:spPr>
          <a:xfrm>
            <a:off x="838200" y="1507710"/>
            <a:ext cx="4721292" cy="523220"/>
          </a:xfrm>
          <a:prstGeom prst="rect">
            <a:avLst/>
          </a:prstGeom>
          <a:noFill/>
        </p:spPr>
        <p:txBody>
          <a:bodyPr wrap="none" rtlCol="0">
            <a:spAutoFit/>
          </a:bodyPr>
          <a:lstStyle/>
          <a:p>
            <a:r>
              <a:rPr lang="en-US" sz="2800" dirty="0"/>
              <a:t>Example: loan approval in bank</a:t>
            </a:r>
            <a:endParaRPr lang="ru-RU" sz="2800" dirty="0"/>
          </a:p>
        </p:txBody>
      </p:sp>
      <p:sp>
        <p:nvSpPr>
          <p:cNvPr id="4" name="Прямоугольник 3">
            <a:extLst>
              <a:ext uri="{FF2B5EF4-FFF2-40B4-BE49-F238E27FC236}">
                <a16:creationId xmlns:a16="http://schemas.microsoft.com/office/drawing/2014/main" id="{3367CC04-7812-275E-2602-6529215DA2ED}"/>
              </a:ext>
            </a:extLst>
          </p:cNvPr>
          <p:cNvSpPr/>
          <p:nvPr/>
        </p:nvSpPr>
        <p:spPr>
          <a:xfrm>
            <a:off x="4104166" y="2310053"/>
            <a:ext cx="3657601"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Credit score &gt; 60</a:t>
            </a:r>
            <a:endParaRPr lang="ru-RU" sz="2800" dirty="0"/>
          </a:p>
        </p:txBody>
      </p:sp>
      <p:sp>
        <p:nvSpPr>
          <p:cNvPr id="6" name="Прямоугольник 5">
            <a:extLst>
              <a:ext uri="{FF2B5EF4-FFF2-40B4-BE49-F238E27FC236}">
                <a16:creationId xmlns:a16="http://schemas.microsoft.com/office/drawing/2014/main" id="{488C4867-D64E-E0EA-D7B6-7B566DB7D8C8}"/>
              </a:ext>
            </a:extLst>
          </p:cNvPr>
          <p:cNvSpPr/>
          <p:nvPr/>
        </p:nvSpPr>
        <p:spPr>
          <a:xfrm>
            <a:off x="814277" y="3478830"/>
            <a:ext cx="4433998" cy="10005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Monthly income &gt; 3000 euro</a:t>
            </a:r>
            <a:endParaRPr lang="ru-RU" sz="2800" dirty="0"/>
          </a:p>
        </p:txBody>
      </p:sp>
      <p:sp>
        <p:nvSpPr>
          <p:cNvPr id="9" name="Прямоугольник 8">
            <a:extLst>
              <a:ext uri="{FF2B5EF4-FFF2-40B4-BE49-F238E27FC236}">
                <a16:creationId xmlns:a16="http://schemas.microsoft.com/office/drawing/2014/main" id="{0D207DB6-8301-B0EA-1E9C-F2EFD0906B55}"/>
              </a:ext>
            </a:extLst>
          </p:cNvPr>
          <p:cNvSpPr/>
          <p:nvPr/>
        </p:nvSpPr>
        <p:spPr>
          <a:xfrm>
            <a:off x="7254947" y="3507941"/>
            <a:ext cx="4098853" cy="993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Debt-to-Income rate &lt; 40%</a:t>
            </a:r>
            <a:endParaRPr lang="ru-RU" sz="2800" dirty="0"/>
          </a:p>
        </p:txBody>
      </p:sp>
      <p:cxnSp>
        <p:nvCxnSpPr>
          <p:cNvPr id="12" name="Прямая со стрелкой 11">
            <a:extLst>
              <a:ext uri="{FF2B5EF4-FFF2-40B4-BE49-F238E27FC236}">
                <a16:creationId xmlns:a16="http://schemas.microsoft.com/office/drawing/2014/main" id="{2773E4E7-9EFA-87EE-D5F8-8C50183C003A}"/>
              </a:ext>
            </a:extLst>
          </p:cNvPr>
          <p:cNvCxnSpPr>
            <a:cxnSpLocks/>
            <a:endCxn id="6" idx="0"/>
          </p:cNvCxnSpPr>
          <p:nvPr/>
        </p:nvCxnSpPr>
        <p:spPr>
          <a:xfrm flipH="1">
            <a:off x="3031276" y="2794342"/>
            <a:ext cx="1905778" cy="68448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Прямая со стрелкой 20">
            <a:extLst>
              <a:ext uri="{FF2B5EF4-FFF2-40B4-BE49-F238E27FC236}">
                <a16:creationId xmlns:a16="http://schemas.microsoft.com/office/drawing/2014/main" id="{D8FDEE22-030B-DE29-F6E4-9F169F518908}"/>
              </a:ext>
            </a:extLst>
          </p:cNvPr>
          <p:cNvCxnSpPr>
            <a:cxnSpLocks/>
            <a:endCxn id="9" idx="0"/>
          </p:cNvCxnSpPr>
          <p:nvPr/>
        </p:nvCxnSpPr>
        <p:spPr>
          <a:xfrm>
            <a:off x="6766738" y="2833273"/>
            <a:ext cx="2537636" cy="67466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Прямая со стрелкой 22">
            <a:extLst>
              <a:ext uri="{FF2B5EF4-FFF2-40B4-BE49-F238E27FC236}">
                <a16:creationId xmlns:a16="http://schemas.microsoft.com/office/drawing/2014/main" id="{0C7A3F9C-DA54-A21C-576C-CFB00355D7CC}"/>
              </a:ext>
            </a:extLst>
          </p:cNvPr>
          <p:cNvCxnSpPr>
            <a:cxnSpLocks/>
          </p:cNvCxnSpPr>
          <p:nvPr/>
        </p:nvCxnSpPr>
        <p:spPr>
          <a:xfrm flipH="1">
            <a:off x="1410586" y="4501781"/>
            <a:ext cx="562975" cy="6477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348F321F-0178-60F1-2637-E20B715624D6}"/>
              </a:ext>
            </a:extLst>
          </p:cNvPr>
          <p:cNvSpPr txBox="1"/>
          <p:nvPr/>
        </p:nvSpPr>
        <p:spPr>
          <a:xfrm>
            <a:off x="866142" y="5258666"/>
            <a:ext cx="1088888" cy="523220"/>
          </a:xfrm>
          <a:prstGeom prst="rect">
            <a:avLst/>
          </a:prstGeom>
          <a:noFill/>
        </p:spPr>
        <p:txBody>
          <a:bodyPr wrap="none" rtlCol="0">
            <a:spAutoFit/>
          </a:bodyPr>
          <a:lstStyle/>
          <a:p>
            <a:r>
              <a:rPr lang="en-US" sz="2800" dirty="0"/>
              <a:t>Reject</a:t>
            </a:r>
            <a:endParaRPr lang="ru-RU" sz="2800" dirty="0"/>
          </a:p>
        </p:txBody>
      </p:sp>
      <p:cxnSp>
        <p:nvCxnSpPr>
          <p:cNvPr id="27" name="Прямая со стрелкой 26">
            <a:extLst>
              <a:ext uri="{FF2B5EF4-FFF2-40B4-BE49-F238E27FC236}">
                <a16:creationId xmlns:a16="http://schemas.microsoft.com/office/drawing/2014/main" id="{EABE1D81-9EAB-80BC-F31A-014FB04AFB96}"/>
              </a:ext>
            </a:extLst>
          </p:cNvPr>
          <p:cNvCxnSpPr>
            <a:cxnSpLocks/>
          </p:cNvCxnSpPr>
          <p:nvPr/>
        </p:nvCxnSpPr>
        <p:spPr>
          <a:xfrm>
            <a:off x="9962707" y="4501781"/>
            <a:ext cx="372140" cy="6477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0BDFA495-B498-5A3A-A581-82FEB866435D}"/>
              </a:ext>
            </a:extLst>
          </p:cNvPr>
          <p:cNvSpPr txBox="1"/>
          <p:nvPr/>
        </p:nvSpPr>
        <p:spPr>
          <a:xfrm>
            <a:off x="9058941" y="5258666"/>
            <a:ext cx="2800317" cy="954107"/>
          </a:xfrm>
          <a:prstGeom prst="rect">
            <a:avLst/>
          </a:prstGeom>
          <a:noFill/>
        </p:spPr>
        <p:txBody>
          <a:bodyPr wrap="square" rtlCol="0">
            <a:spAutoFit/>
          </a:bodyPr>
          <a:lstStyle/>
          <a:p>
            <a:r>
              <a:rPr lang="en-US" sz="2800" dirty="0"/>
              <a:t>Approve with VIP conditions</a:t>
            </a:r>
            <a:endParaRPr lang="ru-RU" sz="2800" dirty="0"/>
          </a:p>
        </p:txBody>
      </p:sp>
      <p:sp>
        <p:nvSpPr>
          <p:cNvPr id="35" name="TextBox 34">
            <a:extLst>
              <a:ext uri="{FF2B5EF4-FFF2-40B4-BE49-F238E27FC236}">
                <a16:creationId xmlns:a16="http://schemas.microsoft.com/office/drawing/2014/main" id="{195E220A-B142-9165-37E6-DC6E1493B33D}"/>
              </a:ext>
            </a:extLst>
          </p:cNvPr>
          <p:cNvSpPr txBox="1"/>
          <p:nvPr/>
        </p:nvSpPr>
        <p:spPr>
          <a:xfrm>
            <a:off x="5511875" y="5258665"/>
            <a:ext cx="3089200" cy="954107"/>
          </a:xfrm>
          <a:prstGeom prst="rect">
            <a:avLst/>
          </a:prstGeom>
          <a:noFill/>
        </p:spPr>
        <p:txBody>
          <a:bodyPr wrap="square" rtlCol="0">
            <a:spAutoFit/>
          </a:bodyPr>
          <a:lstStyle/>
          <a:p>
            <a:r>
              <a:rPr lang="en-US" sz="2800" dirty="0"/>
              <a:t>Approve with standard conditions</a:t>
            </a:r>
            <a:endParaRPr lang="ru-RU" sz="2800" dirty="0"/>
          </a:p>
        </p:txBody>
      </p:sp>
      <p:cxnSp>
        <p:nvCxnSpPr>
          <p:cNvPr id="36" name="Прямая со стрелкой 35">
            <a:extLst>
              <a:ext uri="{FF2B5EF4-FFF2-40B4-BE49-F238E27FC236}">
                <a16:creationId xmlns:a16="http://schemas.microsoft.com/office/drawing/2014/main" id="{33149B07-ECAF-690A-2BCF-32F03E437B2D}"/>
              </a:ext>
            </a:extLst>
          </p:cNvPr>
          <p:cNvCxnSpPr>
            <a:cxnSpLocks/>
          </p:cNvCxnSpPr>
          <p:nvPr/>
        </p:nvCxnSpPr>
        <p:spPr>
          <a:xfrm flipH="1">
            <a:off x="7117613" y="4501781"/>
            <a:ext cx="1080089" cy="6477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Прямая со стрелкой 38">
            <a:extLst>
              <a:ext uri="{FF2B5EF4-FFF2-40B4-BE49-F238E27FC236}">
                <a16:creationId xmlns:a16="http://schemas.microsoft.com/office/drawing/2014/main" id="{C7E181F7-5384-EB25-ABDC-84F09CAF7A47}"/>
              </a:ext>
            </a:extLst>
          </p:cNvPr>
          <p:cNvCxnSpPr>
            <a:cxnSpLocks/>
          </p:cNvCxnSpPr>
          <p:nvPr/>
        </p:nvCxnSpPr>
        <p:spPr>
          <a:xfrm>
            <a:off x="3349256" y="4501781"/>
            <a:ext cx="263254" cy="70274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TextBox 39">
            <a:extLst>
              <a:ext uri="{FF2B5EF4-FFF2-40B4-BE49-F238E27FC236}">
                <a16:creationId xmlns:a16="http://schemas.microsoft.com/office/drawing/2014/main" id="{FE673918-28A3-30A9-B76C-CDE0D1A66875}"/>
              </a:ext>
            </a:extLst>
          </p:cNvPr>
          <p:cNvSpPr txBox="1"/>
          <p:nvPr/>
        </p:nvSpPr>
        <p:spPr>
          <a:xfrm>
            <a:off x="2554267" y="5265901"/>
            <a:ext cx="2541608" cy="954107"/>
          </a:xfrm>
          <a:prstGeom prst="rect">
            <a:avLst/>
          </a:prstGeom>
          <a:noFill/>
        </p:spPr>
        <p:txBody>
          <a:bodyPr wrap="square" rtlCol="0">
            <a:spAutoFit/>
          </a:bodyPr>
          <a:lstStyle/>
          <a:p>
            <a:r>
              <a:rPr lang="en-US" sz="2800" dirty="0"/>
              <a:t>Approve with higher loan rate</a:t>
            </a:r>
            <a:endParaRPr lang="ru-RU" sz="2800" dirty="0"/>
          </a:p>
        </p:txBody>
      </p:sp>
      <p:sp>
        <p:nvSpPr>
          <p:cNvPr id="41" name="TextBox 40">
            <a:extLst>
              <a:ext uri="{FF2B5EF4-FFF2-40B4-BE49-F238E27FC236}">
                <a16:creationId xmlns:a16="http://schemas.microsoft.com/office/drawing/2014/main" id="{31C64580-C84C-EB1C-742A-CB76AF209EE3}"/>
              </a:ext>
            </a:extLst>
          </p:cNvPr>
          <p:cNvSpPr txBox="1"/>
          <p:nvPr/>
        </p:nvSpPr>
        <p:spPr>
          <a:xfrm>
            <a:off x="8092154" y="2684528"/>
            <a:ext cx="661207" cy="523220"/>
          </a:xfrm>
          <a:prstGeom prst="rect">
            <a:avLst/>
          </a:prstGeom>
          <a:noFill/>
        </p:spPr>
        <p:txBody>
          <a:bodyPr wrap="none" rtlCol="0">
            <a:spAutoFit/>
          </a:bodyPr>
          <a:lstStyle/>
          <a:p>
            <a:r>
              <a:rPr lang="en-US" sz="2800" dirty="0"/>
              <a:t>yes</a:t>
            </a:r>
            <a:endParaRPr lang="ru-RU" sz="2800" dirty="0"/>
          </a:p>
        </p:txBody>
      </p:sp>
      <p:sp>
        <p:nvSpPr>
          <p:cNvPr id="42" name="TextBox 41">
            <a:extLst>
              <a:ext uri="{FF2B5EF4-FFF2-40B4-BE49-F238E27FC236}">
                <a16:creationId xmlns:a16="http://schemas.microsoft.com/office/drawing/2014/main" id="{2A17B721-74C6-56CE-BC99-2A1E0D110865}"/>
              </a:ext>
            </a:extLst>
          </p:cNvPr>
          <p:cNvSpPr txBox="1"/>
          <p:nvPr/>
        </p:nvSpPr>
        <p:spPr>
          <a:xfrm>
            <a:off x="10282461" y="4473248"/>
            <a:ext cx="661207" cy="523220"/>
          </a:xfrm>
          <a:prstGeom prst="rect">
            <a:avLst/>
          </a:prstGeom>
          <a:noFill/>
        </p:spPr>
        <p:txBody>
          <a:bodyPr wrap="none" rtlCol="0">
            <a:spAutoFit/>
          </a:bodyPr>
          <a:lstStyle/>
          <a:p>
            <a:r>
              <a:rPr lang="en-US" sz="2800" dirty="0"/>
              <a:t>yes</a:t>
            </a:r>
            <a:endParaRPr lang="ru-RU" sz="2800" dirty="0"/>
          </a:p>
        </p:txBody>
      </p:sp>
      <p:sp>
        <p:nvSpPr>
          <p:cNvPr id="43" name="TextBox 42">
            <a:extLst>
              <a:ext uri="{FF2B5EF4-FFF2-40B4-BE49-F238E27FC236}">
                <a16:creationId xmlns:a16="http://schemas.microsoft.com/office/drawing/2014/main" id="{06A6B772-6317-C72A-37DE-4196D3184CF1}"/>
              </a:ext>
            </a:extLst>
          </p:cNvPr>
          <p:cNvSpPr txBox="1"/>
          <p:nvPr/>
        </p:nvSpPr>
        <p:spPr>
          <a:xfrm>
            <a:off x="3232747" y="2709584"/>
            <a:ext cx="562975" cy="523220"/>
          </a:xfrm>
          <a:prstGeom prst="rect">
            <a:avLst/>
          </a:prstGeom>
          <a:noFill/>
        </p:spPr>
        <p:txBody>
          <a:bodyPr wrap="none" rtlCol="0">
            <a:spAutoFit/>
          </a:bodyPr>
          <a:lstStyle/>
          <a:p>
            <a:r>
              <a:rPr lang="en-US" sz="2800" dirty="0"/>
              <a:t>no</a:t>
            </a:r>
            <a:endParaRPr lang="ru-RU" sz="2800" dirty="0"/>
          </a:p>
        </p:txBody>
      </p:sp>
      <p:sp>
        <p:nvSpPr>
          <p:cNvPr id="44" name="TextBox 43">
            <a:extLst>
              <a:ext uri="{FF2B5EF4-FFF2-40B4-BE49-F238E27FC236}">
                <a16:creationId xmlns:a16="http://schemas.microsoft.com/office/drawing/2014/main" id="{11717E4E-B19E-162A-3B62-E715D848B02E}"/>
              </a:ext>
            </a:extLst>
          </p:cNvPr>
          <p:cNvSpPr txBox="1"/>
          <p:nvPr/>
        </p:nvSpPr>
        <p:spPr>
          <a:xfrm>
            <a:off x="798532" y="4638078"/>
            <a:ext cx="562975" cy="523220"/>
          </a:xfrm>
          <a:prstGeom prst="rect">
            <a:avLst/>
          </a:prstGeom>
          <a:noFill/>
        </p:spPr>
        <p:txBody>
          <a:bodyPr wrap="none" rtlCol="0">
            <a:spAutoFit/>
          </a:bodyPr>
          <a:lstStyle/>
          <a:p>
            <a:r>
              <a:rPr lang="en-US" sz="2800" dirty="0"/>
              <a:t>no</a:t>
            </a:r>
            <a:endParaRPr lang="ru-RU" sz="2800" dirty="0"/>
          </a:p>
        </p:txBody>
      </p:sp>
      <p:sp>
        <p:nvSpPr>
          <p:cNvPr id="45" name="TextBox 44">
            <a:extLst>
              <a:ext uri="{FF2B5EF4-FFF2-40B4-BE49-F238E27FC236}">
                <a16:creationId xmlns:a16="http://schemas.microsoft.com/office/drawing/2014/main" id="{D3FFD0AB-737C-9686-3383-74A37F3BC0F5}"/>
              </a:ext>
            </a:extLst>
          </p:cNvPr>
          <p:cNvSpPr txBox="1"/>
          <p:nvPr/>
        </p:nvSpPr>
        <p:spPr>
          <a:xfrm>
            <a:off x="6676249" y="4503464"/>
            <a:ext cx="562975" cy="523220"/>
          </a:xfrm>
          <a:prstGeom prst="rect">
            <a:avLst/>
          </a:prstGeom>
          <a:noFill/>
        </p:spPr>
        <p:txBody>
          <a:bodyPr wrap="none" rtlCol="0">
            <a:spAutoFit/>
          </a:bodyPr>
          <a:lstStyle/>
          <a:p>
            <a:r>
              <a:rPr lang="en-US" sz="2800" dirty="0"/>
              <a:t>no</a:t>
            </a:r>
            <a:endParaRPr lang="ru-RU" sz="2800" dirty="0"/>
          </a:p>
        </p:txBody>
      </p:sp>
      <p:sp>
        <p:nvSpPr>
          <p:cNvPr id="46" name="TextBox 45">
            <a:extLst>
              <a:ext uri="{FF2B5EF4-FFF2-40B4-BE49-F238E27FC236}">
                <a16:creationId xmlns:a16="http://schemas.microsoft.com/office/drawing/2014/main" id="{AA25E2C8-0644-9450-8168-82E766FA93D8}"/>
              </a:ext>
            </a:extLst>
          </p:cNvPr>
          <p:cNvSpPr txBox="1"/>
          <p:nvPr/>
        </p:nvSpPr>
        <p:spPr>
          <a:xfrm>
            <a:off x="3706548" y="4673168"/>
            <a:ext cx="661207" cy="523220"/>
          </a:xfrm>
          <a:prstGeom prst="rect">
            <a:avLst/>
          </a:prstGeom>
          <a:noFill/>
        </p:spPr>
        <p:txBody>
          <a:bodyPr wrap="none" rtlCol="0">
            <a:spAutoFit/>
          </a:bodyPr>
          <a:lstStyle/>
          <a:p>
            <a:r>
              <a:rPr lang="en-US" sz="2800" dirty="0"/>
              <a:t>yes</a:t>
            </a:r>
            <a:endParaRPr lang="ru-RU" sz="2800" dirty="0"/>
          </a:p>
        </p:txBody>
      </p:sp>
    </p:spTree>
    <p:extLst>
      <p:ext uri="{BB962C8B-B14F-4D97-AF65-F5344CB8AC3E}">
        <p14:creationId xmlns:p14="http://schemas.microsoft.com/office/powerpoint/2010/main" val="58424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7E6321-597E-8899-89EB-1D05D111B2B0}"/>
              </a:ext>
            </a:extLst>
          </p:cNvPr>
          <p:cNvSpPr>
            <a:spLocks noGrp="1"/>
          </p:cNvSpPr>
          <p:nvPr>
            <p:ph type="title"/>
          </p:nvPr>
        </p:nvSpPr>
        <p:spPr/>
        <p:txBody>
          <a:bodyPr/>
          <a:lstStyle/>
          <a:p>
            <a:r>
              <a:rPr lang="en-US" dirty="0"/>
              <a:t>Decision Trees</a:t>
            </a:r>
            <a:endParaRPr lang="ru-RU" dirty="0"/>
          </a:p>
        </p:txBody>
      </p:sp>
      <p:sp>
        <p:nvSpPr>
          <p:cNvPr id="4" name="TextBox 3">
            <a:extLst>
              <a:ext uri="{FF2B5EF4-FFF2-40B4-BE49-F238E27FC236}">
                <a16:creationId xmlns:a16="http://schemas.microsoft.com/office/drawing/2014/main" id="{5251CE23-F3D4-E95B-E982-8E7E460B3BCC}"/>
              </a:ext>
            </a:extLst>
          </p:cNvPr>
          <p:cNvSpPr txBox="1"/>
          <p:nvPr/>
        </p:nvSpPr>
        <p:spPr>
          <a:xfrm>
            <a:off x="838199" y="1690688"/>
            <a:ext cx="10515599" cy="2677656"/>
          </a:xfrm>
          <a:prstGeom prst="rect">
            <a:avLst/>
          </a:prstGeom>
          <a:noFill/>
        </p:spPr>
        <p:txBody>
          <a:bodyPr wrap="square" rtlCol="0">
            <a:spAutoFit/>
          </a:bodyPr>
          <a:lstStyle/>
          <a:p>
            <a:r>
              <a:rPr lang="en-US" sz="2800" dirty="0"/>
              <a:t>Decision tree is a binary tree, where</a:t>
            </a:r>
          </a:p>
          <a:p>
            <a:pPr marL="342900" indent="-342900">
              <a:buAutoNum type="arabicParenR"/>
            </a:pPr>
            <a:r>
              <a:rPr lang="en-US" sz="2800" dirty="0"/>
              <a:t>In all internal nodes       there are some logical predicates</a:t>
            </a:r>
          </a:p>
          <a:p>
            <a:pPr marL="342900" indent="-342900">
              <a:buAutoNum type="arabicParenR"/>
            </a:pPr>
            <a:endParaRPr lang="en-US" sz="2800" dirty="0"/>
          </a:p>
          <a:p>
            <a:pPr marL="342900" indent="-342900">
              <a:buAutoNum type="arabicParenR"/>
            </a:pPr>
            <a:endParaRPr lang="en-US" sz="2800" dirty="0"/>
          </a:p>
          <a:p>
            <a:pPr marL="342900" indent="-342900">
              <a:buAutoNum type="arabicParenR"/>
            </a:pPr>
            <a:r>
              <a:rPr lang="en-US" sz="2800" dirty="0"/>
              <a:t>In all leaf nodes there is some prediction</a:t>
            </a:r>
          </a:p>
          <a:p>
            <a:endParaRPr lang="ru-RU" sz="2800" dirty="0"/>
          </a:p>
        </p:txBody>
      </p:sp>
      <p:pic>
        <p:nvPicPr>
          <p:cNvPr id="6" name="Рисунок 5">
            <a:extLst>
              <a:ext uri="{FF2B5EF4-FFF2-40B4-BE49-F238E27FC236}">
                <a16:creationId xmlns:a16="http://schemas.microsoft.com/office/drawing/2014/main" id="{A450821E-BC29-D56B-4686-4E705D971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2000" y="2598629"/>
            <a:ext cx="2473085" cy="559241"/>
          </a:xfrm>
          <a:prstGeom prst="rect">
            <a:avLst/>
          </a:prstGeom>
        </p:spPr>
      </p:pic>
      <p:pic>
        <p:nvPicPr>
          <p:cNvPr id="8" name="Рисунок 7">
            <a:extLst>
              <a:ext uri="{FF2B5EF4-FFF2-40B4-BE49-F238E27FC236}">
                <a16:creationId xmlns:a16="http://schemas.microsoft.com/office/drawing/2014/main" id="{F7914FDB-C570-36B4-A3F3-1A85B586C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682" y="2182496"/>
            <a:ext cx="452484" cy="437399"/>
          </a:xfrm>
          <a:prstGeom prst="rect">
            <a:avLst/>
          </a:prstGeom>
        </p:spPr>
      </p:pic>
      <p:pic>
        <p:nvPicPr>
          <p:cNvPr id="10" name="Рисунок 9">
            <a:extLst>
              <a:ext uri="{FF2B5EF4-FFF2-40B4-BE49-F238E27FC236}">
                <a16:creationId xmlns:a16="http://schemas.microsoft.com/office/drawing/2014/main" id="{FAD9B1E7-9DB2-8F4A-5479-8E7C31CBB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4990" y="3385671"/>
            <a:ext cx="1211238" cy="551786"/>
          </a:xfrm>
          <a:prstGeom prst="rect">
            <a:avLst/>
          </a:prstGeom>
        </p:spPr>
      </p:pic>
      <p:pic>
        <p:nvPicPr>
          <p:cNvPr id="12" name="Рисунок 11">
            <a:extLst>
              <a:ext uri="{FF2B5EF4-FFF2-40B4-BE49-F238E27FC236}">
                <a16:creationId xmlns:a16="http://schemas.microsoft.com/office/drawing/2014/main" id="{952829C6-74B7-A0D6-D767-CFC13F9AAF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8537" y="4638677"/>
            <a:ext cx="4360193" cy="872039"/>
          </a:xfrm>
          <a:prstGeom prst="rect">
            <a:avLst/>
          </a:prstGeom>
        </p:spPr>
      </p:pic>
      <p:pic>
        <p:nvPicPr>
          <p:cNvPr id="5" name="Рисунок 4">
            <a:extLst>
              <a:ext uri="{FF2B5EF4-FFF2-40B4-BE49-F238E27FC236}">
                <a16:creationId xmlns:a16="http://schemas.microsoft.com/office/drawing/2014/main" id="{7490FFA3-A523-EBDD-E608-4445391688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53421" y="4171417"/>
            <a:ext cx="982555" cy="443113"/>
          </a:xfrm>
          <a:prstGeom prst="rect">
            <a:avLst/>
          </a:prstGeom>
        </p:spPr>
      </p:pic>
      <p:sp>
        <p:nvSpPr>
          <p:cNvPr id="7" name="TextBox 6">
            <a:extLst>
              <a:ext uri="{FF2B5EF4-FFF2-40B4-BE49-F238E27FC236}">
                <a16:creationId xmlns:a16="http://schemas.microsoft.com/office/drawing/2014/main" id="{EE895C04-9735-94FF-6679-1EF984AE7AD1}"/>
              </a:ext>
            </a:extLst>
          </p:cNvPr>
          <p:cNvSpPr txBox="1"/>
          <p:nvPr/>
        </p:nvSpPr>
        <p:spPr>
          <a:xfrm>
            <a:off x="2611644" y="4118254"/>
            <a:ext cx="2343911" cy="523220"/>
          </a:xfrm>
          <a:prstGeom prst="rect">
            <a:avLst/>
          </a:prstGeom>
          <a:noFill/>
        </p:spPr>
        <p:txBody>
          <a:bodyPr wrap="none" rtlCol="0">
            <a:spAutoFit/>
          </a:bodyPr>
          <a:lstStyle/>
          <a:p>
            <a:r>
              <a:rPr lang="en-US" sz="2800" dirty="0"/>
              <a:t>For regression:</a:t>
            </a:r>
            <a:endParaRPr lang="ru-RU" sz="2800" dirty="0"/>
          </a:p>
        </p:txBody>
      </p:sp>
      <p:sp>
        <p:nvSpPr>
          <p:cNvPr id="9" name="TextBox 8">
            <a:extLst>
              <a:ext uri="{FF2B5EF4-FFF2-40B4-BE49-F238E27FC236}">
                <a16:creationId xmlns:a16="http://schemas.microsoft.com/office/drawing/2014/main" id="{5FB428B0-AB40-2B01-7E51-5D3ABFA51FED}"/>
              </a:ext>
            </a:extLst>
          </p:cNvPr>
          <p:cNvSpPr txBox="1"/>
          <p:nvPr/>
        </p:nvSpPr>
        <p:spPr>
          <a:xfrm>
            <a:off x="2615629" y="4682953"/>
            <a:ext cx="3760966" cy="523220"/>
          </a:xfrm>
          <a:prstGeom prst="rect">
            <a:avLst/>
          </a:prstGeom>
          <a:noFill/>
        </p:spPr>
        <p:txBody>
          <a:bodyPr wrap="none" rtlCol="0">
            <a:spAutoFit/>
          </a:bodyPr>
          <a:lstStyle/>
          <a:p>
            <a:r>
              <a:rPr lang="en-US" sz="2800" dirty="0"/>
              <a:t>For K-class classification:</a:t>
            </a:r>
            <a:endParaRPr lang="ru-RU" sz="2800" dirty="0"/>
          </a:p>
        </p:txBody>
      </p:sp>
    </p:spTree>
    <p:extLst>
      <p:ext uri="{BB962C8B-B14F-4D97-AF65-F5344CB8AC3E}">
        <p14:creationId xmlns:p14="http://schemas.microsoft.com/office/powerpoint/2010/main" val="4215784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59A896-D416-F892-38A5-0D264A56383C}"/>
              </a:ext>
            </a:extLst>
          </p:cNvPr>
          <p:cNvSpPr>
            <a:spLocks noGrp="1"/>
          </p:cNvSpPr>
          <p:nvPr>
            <p:ph type="title"/>
          </p:nvPr>
        </p:nvSpPr>
        <p:spPr/>
        <p:txBody>
          <a:bodyPr/>
          <a:lstStyle/>
          <a:p>
            <a:r>
              <a:rPr lang="en-US" dirty="0"/>
              <a:t>Decision Tree for prediction</a:t>
            </a:r>
            <a:endParaRPr lang="ru-RU" dirty="0"/>
          </a:p>
        </p:txBody>
      </p:sp>
      <p:sp>
        <p:nvSpPr>
          <p:cNvPr id="4" name="TextBox 3">
            <a:extLst>
              <a:ext uri="{FF2B5EF4-FFF2-40B4-BE49-F238E27FC236}">
                <a16:creationId xmlns:a16="http://schemas.microsoft.com/office/drawing/2014/main" id="{DDA79C98-F887-4291-B732-FB28BD0B5C73}"/>
              </a:ext>
            </a:extLst>
          </p:cNvPr>
          <p:cNvSpPr txBox="1"/>
          <p:nvPr/>
        </p:nvSpPr>
        <p:spPr>
          <a:xfrm>
            <a:off x="838200" y="1690688"/>
            <a:ext cx="5666616" cy="2677656"/>
          </a:xfrm>
          <a:prstGeom prst="rect">
            <a:avLst/>
          </a:prstGeom>
          <a:noFill/>
        </p:spPr>
        <p:txBody>
          <a:bodyPr wrap="none" rtlCol="0">
            <a:spAutoFit/>
          </a:bodyPr>
          <a:lstStyle/>
          <a:p>
            <a:r>
              <a:rPr lang="en-US" sz="2800" dirty="0"/>
              <a:t>Predict(v, x):</a:t>
            </a:r>
          </a:p>
          <a:p>
            <a:r>
              <a:rPr lang="en-US" sz="2800" dirty="0"/>
              <a:t>	If v is a leaf, then return </a:t>
            </a:r>
          </a:p>
          <a:p>
            <a:r>
              <a:rPr lang="en-US" sz="2800" dirty="0"/>
              <a:t>	If                    : </a:t>
            </a:r>
          </a:p>
          <a:p>
            <a:r>
              <a:rPr lang="en-US" sz="2800" dirty="0"/>
              <a:t>		return Predict(left(v), x)</a:t>
            </a:r>
          </a:p>
          <a:p>
            <a:r>
              <a:rPr lang="en-US" sz="2800" dirty="0"/>
              <a:t>	Else:</a:t>
            </a:r>
          </a:p>
          <a:p>
            <a:r>
              <a:rPr lang="en-US" sz="2800" dirty="0"/>
              <a:t>		return Predict(right(v), x)</a:t>
            </a:r>
            <a:endParaRPr lang="ru-RU" sz="2800" dirty="0"/>
          </a:p>
        </p:txBody>
      </p:sp>
      <p:pic>
        <p:nvPicPr>
          <p:cNvPr id="6" name="Рисунок 5">
            <a:extLst>
              <a:ext uri="{FF2B5EF4-FFF2-40B4-BE49-F238E27FC236}">
                <a16:creationId xmlns:a16="http://schemas.microsoft.com/office/drawing/2014/main" id="{E0F0A564-50E1-85A2-583A-CCA5E3DF4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9727" y="2601584"/>
            <a:ext cx="1529490" cy="446566"/>
          </a:xfrm>
          <a:prstGeom prst="rect">
            <a:avLst/>
          </a:prstGeom>
        </p:spPr>
      </p:pic>
      <p:pic>
        <p:nvPicPr>
          <p:cNvPr id="8" name="Рисунок 7">
            <a:extLst>
              <a:ext uri="{FF2B5EF4-FFF2-40B4-BE49-F238E27FC236}">
                <a16:creationId xmlns:a16="http://schemas.microsoft.com/office/drawing/2014/main" id="{B7EF6667-F927-446B-748D-2BDB53B280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4263" y="2090575"/>
            <a:ext cx="526297" cy="654315"/>
          </a:xfrm>
          <a:prstGeom prst="rect">
            <a:avLst/>
          </a:prstGeom>
        </p:spPr>
      </p:pic>
      <p:sp>
        <p:nvSpPr>
          <p:cNvPr id="3" name="TextBox 2">
            <a:extLst>
              <a:ext uri="{FF2B5EF4-FFF2-40B4-BE49-F238E27FC236}">
                <a16:creationId xmlns:a16="http://schemas.microsoft.com/office/drawing/2014/main" id="{EE81AD69-582F-8DCF-C6A8-4B6DC5C26899}"/>
              </a:ext>
            </a:extLst>
          </p:cNvPr>
          <p:cNvSpPr txBox="1"/>
          <p:nvPr/>
        </p:nvSpPr>
        <p:spPr>
          <a:xfrm>
            <a:off x="838200" y="4644092"/>
            <a:ext cx="3324052" cy="523220"/>
          </a:xfrm>
          <a:prstGeom prst="rect">
            <a:avLst/>
          </a:prstGeom>
          <a:noFill/>
        </p:spPr>
        <p:txBody>
          <a:bodyPr wrap="none" rtlCol="0">
            <a:spAutoFit/>
          </a:bodyPr>
          <a:lstStyle/>
          <a:p>
            <a:r>
              <a:rPr lang="en-US" sz="2800" dirty="0"/>
              <a:t>Call Predict(v=root, x)</a:t>
            </a:r>
            <a:endParaRPr lang="ru-RU" sz="2800" dirty="0"/>
          </a:p>
        </p:txBody>
      </p:sp>
    </p:spTree>
    <p:extLst>
      <p:ext uri="{BB962C8B-B14F-4D97-AF65-F5344CB8AC3E}">
        <p14:creationId xmlns:p14="http://schemas.microsoft.com/office/powerpoint/2010/main" val="2997350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F9E2B5-779F-6173-A9DA-8C3E69E0BEA8}"/>
              </a:ext>
            </a:extLst>
          </p:cNvPr>
          <p:cNvSpPr>
            <a:spLocks noGrp="1"/>
          </p:cNvSpPr>
          <p:nvPr>
            <p:ph type="title"/>
          </p:nvPr>
        </p:nvSpPr>
        <p:spPr/>
        <p:txBody>
          <a:bodyPr/>
          <a:lstStyle/>
          <a:p>
            <a:r>
              <a:rPr lang="en-US" dirty="0"/>
              <a:t>Types of predicates</a:t>
            </a:r>
            <a:endParaRPr lang="ru-RU" dirty="0"/>
          </a:p>
        </p:txBody>
      </p:sp>
      <p:sp>
        <p:nvSpPr>
          <p:cNvPr id="4" name="TextBox 3">
            <a:extLst>
              <a:ext uri="{FF2B5EF4-FFF2-40B4-BE49-F238E27FC236}">
                <a16:creationId xmlns:a16="http://schemas.microsoft.com/office/drawing/2014/main" id="{C7209550-73A7-4118-991B-8C83A63CADE7}"/>
              </a:ext>
            </a:extLst>
          </p:cNvPr>
          <p:cNvSpPr txBox="1"/>
          <p:nvPr/>
        </p:nvSpPr>
        <p:spPr>
          <a:xfrm>
            <a:off x="838200" y="1690688"/>
            <a:ext cx="8634030" cy="3939540"/>
          </a:xfrm>
          <a:prstGeom prst="rect">
            <a:avLst/>
          </a:prstGeom>
          <a:noFill/>
        </p:spPr>
        <p:txBody>
          <a:bodyPr wrap="none" rtlCol="0">
            <a:spAutoFit/>
          </a:bodyPr>
          <a:lstStyle/>
          <a:p>
            <a:pPr marL="342900" indent="-342900">
              <a:buAutoNum type="arabicParenR"/>
            </a:pPr>
            <a:r>
              <a:rPr lang="en-US" sz="2800" dirty="0"/>
              <a:t>Comparison of some feature value with some threshold:</a:t>
            </a:r>
          </a:p>
          <a:p>
            <a:pPr marL="342900" indent="-342900">
              <a:buAutoNum type="arabicParenR"/>
            </a:pPr>
            <a:endParaRPr lang="en-US" sz="2800" dirty="0"/>
          </a:p>
          <a:p>
            <a:pPr marL="342900" indent="-342900">
              <a:buAutoNum type="arabicParenR"/>
            </a:pPr>
            <a:endParaRPr lang="en-US" sz="2800" dirty="0"/>
          </a:p>
          <a:p>
            <a:pPr marL="342900" indent="-342900">
              <a:buAutoNum type="arabicParenR"/>
            </a:pPr>
            <a:r>
              <a:rPr lang="en-US" sz="2800" dirty="0"/>
              <a:t>Linear predicate:</a:t>
            </a:r>
          </a:p>
          <a:p>
            <a:pPr marL="342900" indent="-342900">
              <a:buAutoNum type="arabicParenR"/>
            </a:pPr>
            <a:endParaRPr lang="en-US" sz="2800" dirty="0"/>
          </a:p>
          <a:p>
            <a:pPr marL="342900" indent="-342900">
              <a:buAutoNum type="arabicParenR"/>
            </a:pPr>
            <a:endParaRPr lang="en-US" sz="2800" dirty="0"/>
          </a:p>
          <a:p>
            <a:pPr marL="342900" indent="-342900">
              <a:buAutoNum type="arabicParenR"/>
            </a:pPr>
            <a:r>
              <a:rPr lang="en-US" sz="2800" dirty="0"/>
              <a:t>Distance to given object:</a:t>
            </a:r>
          </a:p>
          <a:p>
            <a:endParaRPr lang="en-US" dirty="0"/>
          </a:p>
          <a:p>
            <a:endParaRPr lang="en-US" dirty="0"/>
          </a:p>
          <a:p>
            <a:endParaRPr lang="ru-RU" dirty="0"/>
          </a:p>
        </p:txBody>
      </p:sp>
      <p:pic>
        <p:nvPicPr>
          <p:cNvPr id="6" name="Рисунок 5">
            <a:extLst>
              <a:ext uri="{FF2B5EF4-FFF2-40B4-BE49-F238E27FC236}">
                <a16:creationId xmlns:a16="http://schemas.microsoft.com/office/drawing/2014/main" id="{79A2E04A-6AB1-9F89-EC82-C3D8D84C7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8931" y="2257935"/>
            <a:ext cx="2327069" cy="485265"/>
          </a:xfrm>
          <a:prstGeom prst="rect">
            <a:avLst/>
          </a:prstGeom>
        </p:spPr>
      </p:pic>
      <p:pic>
        <p:nvPicPr>
          <p:cNvPr id="8" name="Рисунок 7">
            <a:extLst>
              <a:ext uri="{FF2B5EF4-FFF2-40B4-BE49-F238E27FC236}">
                <a16:creationId xmlns:a16="http://schemas.microsoft.com/office/drawing/2014/main" id="{E1F5A0A7-01BD-A82D-26BE-427F1C207C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3867" y="3544472"/>
            <a:ext cx="2787454" cy="485265"/>
          </a:xfrm>
          <a:prstGeom prst="rect">
            <a:avLst/>
          </a:prstGeom>
        </p:spPr>
      </p:pic>
      <p:pic>
        <p:nvPicPr>
          <p:cNvPr id="10" name="Рисунок 9">
            <a:extLst>
              <a:ext uri="{FF2B5EF4-FFF2-40B4-BE49-F238E27FC236}">
                <a16:creationId xmlns:a16="http://schemas.microsoft.com/office/drawing/2014/main" id="{ED3551FE-C2E6-5211-8FB4-66033434FE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6398" y="4866477"/>
            <a:ext cx="3450309" cy="551091"/>
          </a:xfrm>
          <a:prstGeom prst="rect">
            <a:avLst/>
          </a:prstGeom>
        </p:spPr>
      </p:pic>
      <p:sp>
        <p:nvSpPr>
          <p:cNvPr id="3" name="TextBox 2">
            <a:extLst>
              <a:ext uri="{FF2B5EF4-FFF2-40B4-BE49-F238E27FC236}">
                <a16:creationId xmlns:a16="http://schemas.microsoft.com/office/drawing/2014/main" id="{D0FA97EC-E1E1-8375-A8F7-AB5936C51A4B}"/>
              </a:ext>
            </a:extLst>
          </p:cNvPr>
          <p:cNvSpPr txBox="1"/>
          <p:nvPr/>
        </p:nvSpPr>
        <p:spPr>
          <a:xfrm>
            <a:off x="838200" y="5864720"/>
            <a:ext cx="10878879" cy="954107"/>
          </a:xfrm>
          <a:prstGeom prst="rect">
            <a:avLst/>
          </a:prstGeom>
          <a:noFill/>
        </p:spPr>
        <p:txBody>
          <a:bodyPr wrap="square" rtlCol="0">
            <a:spAutoFit/>
          </a:bodyPr>
          <a:lstStyle/>
          <a:p>
            <a:r>
              <a:rPr lang="en-US" sz="2800" dirty="0"/>
              <a:t>In practice usually the simplest variant 1 is used, because it already allows building a universal approximator</a:t>
            </a:r>
            <a:endParaRPr lang="ru-RU" sz="2800" dirty="0"/>
          </a:p>
        </p:txBody>
      </p:sp>
    </p:spTree>
    <p:extLst>
      <p:ext uri="{BB962C8B-B14F-4D97-AF65-F5344CB8AC3E}">
        <p14:creationId xmlns:p14="http://schemas.microsoft.com/office/powerpoint/2010/main" val="2680702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5D41D0-EFD8-0294-8007-CC008A60A2F3}"/>
              </a:ext>
            </a:extLst>
          </p:cNvPr>
          <p:cNvSpPr>
            <a:spLocks noGrp="1"/>
          </p:cNvSpPr>
          <p:nvPr>
            <p:ph type="title"/>
          </p:nvPr>
        </p:nvSpPr>
        <p:spPr/>
        <p:txBody>
          <a:bodyPr/>
          <a:lstStyle/>
          <a:p>
            <a:r>
              <a:rPr lang="en-US" dirty="0"/>
              <a:t>Decision Trees for simple predicates</a:t>
            </a:r>
            <a:endParaRPr lang="ru-RU" dirty="0"/>
          </a:p>
        </p:txBody>
      </p:sp>
      <p:sp>
        <p:nvSpPr>
          <p:cNvPr id="4" name="TextBox 3">
            <a:extLst>
              <a:ext uri="{FF2B5EF4-FFF2-40B4-BE49-F238E27FC236}">
                <a16:creationId xmlns:a16="http://schemas.microsoft.com/office/drawing/2014/main" id="{A8F5B48D-C257-9F0B-E262-4CEB6C99511B}"/>
              </a:ext>
            </a:extLst>
          </p:cNvPr>
          <p:cNvSpPr txBox="1"/>
          <p:nvPr/>
        </p:nvSpPr>
        <p:spPr>
          <a:xfrm>
            <a:off x="838200" y="1690688"/>
            <a:ext cx="8837428" cy="523220"/>
          </a:xfrm>
          <a:prstGeom prst="rect">
            <a:avLst/>
          </a:prstGeom>
          <a:noFill/>
        </p:spPr>
        <p:txBody>
          <a:bodyPr wrap="square" rtlCol="0">
            <a:spAutoFit/>
          </a:bodyPr>
          <a:lstStyle/>
          <a:p>
            <a:r>
              <a:rPr lang="en-US" sz="2800" dirty="0"/>
              <a:t>DT builds piecewise constant prediction in feature space. </a:t>
            </a:r>
            <a:endParaRPr lang="ru-RU" sz="2800" dirty="0"/>
          </a:p>
        </p:txBody>
      </p:sp>
      <p:sp>
        <p:nvSpPr>
          <p:cNvPr id="6" name="Прямоугольник 5">
            <a:extLst>
              <a:ext uri="{FF2B5EF4-FFF2-40B4-BE49-F238E27FC236}">
                <a16:creationId xmlns:a16="http://schemas.microsoft.com/office/drawing/2014/main" id="{746E5D9C-B79C-2FED-ACA3-801520C488D8}"/>
              </a:ext>
            </a:extLst>
          </p:cNvPr>
          <p:cNvSpPr/>
          <p:nvPr/>
        </p:nvSpPr>
        <p:spPr>
          <a:xfrm>
            <a:off x="2030815" y="2894844"/>
            <a:ext cx="1388409"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2800" dirty="0"/>
          </a:p>
        </p:txBody>
      </p:sp>
      <p:cxnSp>
        <p:nvCxnSpPr>
          <p:cNvPr id="9" name="Прямая со стрелкой 8">
            <a:extLst>
              <a:ext uri="{FF2B5EF4-FFF2-40B4-BE49-F238E27FC236}">
                <a16:creationId xmlns:a16="http://schemas.microsoft.com/office/drawing/2014/main" id="{D6B9ACE8-9B64-259B-03FA-3294DFDB6775}"/>
              </a:ext>
            </a:extLst>
          </p:cNvPr>
          <p:cNvCxnSpPr>
            <a:cxnSpLocks/>
          </p:cNvCxnSpPr>
          <p:nvPr/>
        </p:nvCxnSpPr>
        <p:spPr>
          <a:xfrm flipH="1">
            <a:off x="1663439" y="3418063"/>
            <a:ext cx="621189" cy="5998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Прямая со стрелкой 9">
            <a:extLst>
              <a:ext uri="{FF2B5EF4-FFF2-40B4-BE49-F238E27FC236}">
                <a16:creationId xmlns:a16="http://schemas.microsoft.com/office/drawing/2014/main" id="{EFF41479-FC05-B872-4AFA-A401AD472324}"/>
              </a:ext>
            </a:extLst>
          </p:cNvPr>
          <p:cNvCxnSpPr>
            <a:cxnSpLocks/>
            <a:endCxn id="31" idx="0"/>
          </p:cNvCxnSpPr>
          <p:nvPr/>
        </p:nvCxnSpPr>
        <p:spPr>
          <a:xfrm>
            <a:off x="3165410" y="3418063"/>
            <a:ext cx="754842" cy="5792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19DC778D-4144-B936-C4F5-B9F5F5E482F7}"/>
              </a:ext>
            </a:extLst>
          </p:cNvPr>
          <p:cNvSpPr txBox="1"/>
          <p:nvPr/>
        </p:nvSpPr>
        <p:spPr>
          <a:xfrm>
            <a:off x="3783209" y="3336398"/>
            <a:ext cx="562975" cy="523220"/>
          </a:xfrm>
          <a:prstGeom prst="rect">
            <a:avLst/>
          </a:prstGeom>
          <a:noFill/>
        </p:spPr>
        <p:txBody>
          <a:bodyPr wrap="none" rtlCol="0">
            <a:spAutoFit/>
          </a:bodyPr>
          <a:lstStyle/>
          <a:p>
            <a:r>
              <a:rPr lang="en-US" sz="2800" dirty="0"/>
              <a:t>no</a:t>
            </a:r>
            <a:endParaRPr lang="ru-RU" sz="2800" dirty="0"/>
          </a:p>
        </p:txBody>
      </p:sp>
      <p:sp>
        <p:nvSpPr>
          <p:cNvPr id="16" name="TextBox 15">
            <a:extLst>
              <a:ext uri="{FF2B5EF4-FFF2-40B4-BE49-F238E27FC236}">
                <a16:creationId xmlns:a16="http://schemas.microsoft.com/office/drawing/2014/main" id="{7806EEAA-9E02-66CF-E93B-D2535474D95D}"/>
              </a:ext>
            </a:extLst>
          </p:cNvPr>
          <p:cNvSpPr txBox="1"/>
          <p:nvPr/>
        </p:nvSpPr>
        <p:spPr>
          <a:xfrm>
            <a:off x="4830617" y="4354644"/>
            <a:ext cx="562975" cy="523220"/>
          </a:xfrm>
          <a:prstGeom prst="rect">
            <a:avLst/>
          </a:prstGeom>
          <a:noFill/>
        </p:spPr>
        <p:txBody>
          <a:bodyPr wrap="none" rtlCol="0">
            <a:spAutoFit/>
          </a:bodyPr>
          <a:lstStyle/>
          <a:p>
            <a:r>
              <a:rPr lang="en-US" sz="2800" dirty="0"/>
              <a:t>no</a:t>
            </a:r>
            <a:endParaRPr lang="ru-RU" sz="2800" dirty="0"/>
          </a:p>
        </p:txBody>
      </p:sp>
      <p:sp>
        <p:nvSpPr>
          <p:cNvPr id="17" name="TextBox 16">
            <a:extLst>
              <a:ext uri="{FF2B5EF4-FFF2-40B4-BE49-F238E27FC236}">
                <a16:creationId xmlns:a16="http://schemas.microsoft.com/office/drawing/2014/main" id="{986222DD-1D8B-8D3C-CE52-9BD77848FBBB}"/>
              </a:ext>
            </a:extLst>
          </p:cNvPr>
          <p:cNvSpPr txBox="1"/>
          <p:nvPr/>
        </p:nvSpPr>
        <p:spPr>
          <a:xfrm>
            <a:off x="670124" y="4089276"/>
            <a:ext cx="1831014" cy="523220"/>
          </a:xfrm>
          <a:prstGeom prst="rect">
            <a:avLst/>
          </a:prstGeom>
          <a:noFill/>
        </p:spPr>
        <p:txBody>
          <a:bodyPr wrap="none" rtlCol="0">
            <a:spAutoFit/>
          </a:bodyPr>
          <a:lstStyle/>
          <a:p>
            <a:r>
              <a:rPr lang="en-US" sz="2800" dirty="0"/>
              <a:t>blue region</a:t>
            </a:r>
            <a:endParaRPr lang="ru-RU" sz="2800" dirty="0"/>
          </a:p>
        </p:txBody>
      </p:sp>
      <p:sp>
        <p:nvSpPr>
          <p:cNvPr id="19" name="TextBox 18">
            <a:extLst>
              <a:ext uri="{FF2B5EF4-FFF2-40B4-BE49-F238E27FC236}">
                <a16:creationId xmlns:a16="http://schemas.microsoft.com/office/drawing/2014/main" id="{A1DB2AB4-10E8-CDB8-33A9-263C6FF9D403}"/>
              </a:ext>
            </a:extLst>
          </p:cNvPr>
          <p:cNvSpPr txBox="1"/>
          <p:nvPr/>
        </p:nvSpPr>
        <p:spPr>
          <a:xfrm>
            <a:off x="2625317" y="4396867"/>
            <a:ext cx="661207" cy="523220"/>
          </a:xfrm>
          <a:prstGeom prst="rect">
            <a:avLst/>
          </a:prstGeom>
          <a:noFill/>
        </p:spPr>
        <p:txBody>
          <a:bodyPr wrap="none" rtlCol="0">
            <a:spAutoFit/>
          </a:bodyPr>
          <a:lstStyle/>
          <a:p>
            <a:r>
              <a:rPr lang="en-US" sz="2800" dirty="0"/>
              <a:t>yes</a:t>
            </a:r>
            <a:endParaRPr lang="ru-RU" sz="2800" dirty="0"/>
          </a:p>
        </p:txBody>
      </p:sp>
      <p:pic>
        <p:nvPicPr>
          <p:cNvPr id="22" name="Рисунок 21">
            <a:extLst>
              <a:ext uri="{FF2B5EF4-FFF2-40B4-BE49-F238E27FC236}">
                <a16:creationId xmlns:a16="http://schemas.microsoft.com/office/drawing/2014/main" id="{B7B03B31-BDBB-BB55-D42C-80737F3C54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628" y="2976509"/>
            <a:ext cx="880782" cy="359889"/>
          </a:xfrm>
          <a:prstGeom prst="rect">
            <a:avLst/>
          </a:prstGeom>
        </p:spPr>
      </p:pic>
      <p:sp>
        <p:nvSpPr>
          <p:cNvPr id="31" name="Прямоугольник 30">
            <a:extLst>
              <a:ext uri="{FF2B5EF4-FFF2-40B4-BE49-F238E27FC236}">
                <a16:creationId xmlns:a16="http://schemas.microsoft.com/office/drawing/2014/main" id="{F3B8E9BC-6712-2B1B-D857-97ABAAE794B2}"/>
              </a:ext>
            </a:extLst>
          </p:cNvPr>
          <p:cNvSpPr/>
          <p:nvPr/>
        </p:nvSpPr>
        <p:spPr>
          <a:xfrm>
            <a:off x="3226047" y="3997336"/>
            <a:ext cx="1388409"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2800" dirty="0"/>
          </a:p>
        </p:txBody>
      </p:sp>
      <p:pic>
        <p:nvPicPr>
          <p:cNvPr id="25" name="Рисунок 24">
            <a:extLst>
              <a:ext uri="{FF2B5EF4-FFF2-40B4-BE49-F238E27FC236}">
                <a16:creationId xmlns:a16="http://schemas.microsoft.com/office/drawing/2014/main" id="{CF68289A-B85A-3E3E-ED85-0C56F47D0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7511" y="4074495"/>
            <a:ext cx="986905" cy="372607"/>
          </a:xfrm>
          <a:prstGeom prst="rect">
            <a:avLst/>
          </a:prstGeom>
        </p:spPr>
      </p:pic>
      <p:sp>
        <p:nvSpPr>
          <p:cNvPr id="36" name="TextBox 35">
            <a:extLst>
              <a:ext uri="{FF2B5EF4-FFF2-40B4-BE49-F238E27FC236}">
                <a16:creationId xmlns:a16="http://schemas.microsoft.com/office/drawing/2014/main" id="{B28F6913-E0AA-5965-3C9D-B64A2F0E9D89}"/>
              </a:ext>
            </a:extLst>
          </p:cNvPr>
          <p:cNvSpPr txBox="1"/>
          <p:nvPr/>
        </p:nvSpPr>
        <p:spPr>
          <a:xfrm>
            <a:off x="1159396" y="3294375"/>
            <a:ext cx="661207" cy="523220"/>
          </a:xfrm>
          <a:prstGeom prst="rect">
            <a:avLst/>
          </a:prstGeom>
          <a:noFill/>
        </p:spPr>
        <p:txBody>
          <a:bodyPr wrap="none" rtlCol="0">
            <a:spAutoFit/>
          </a:bodyPr>
          <a:lstStyle/>
          <a:p>
            <a:r>
              <a:rPr lang="en-US" sz="2800" dirty="0"/>
              <a:t>yes</a:t>
            </a:r>
            <a:endParaRPr lang="ru-RU" sz="2800" dirty="0"/>
          </a:p>
        </p:txBody>
      </p:sp>
      <p:cxnSp>
        <p:nvCxnSpPr>
          <p:cNvPr id="39" name="Прямая со стрелкой 38">
            <a:extLst>
              <a:ext uri="{FF2B5EF4-FFF2-40B4-BE49-F238E27FC236}">
                <a16:creationId xmlns:a16="http://schemas.microsoft.com/office/drawing/2014/main" id="{78CB8210-037C-B13E-214F-3F4CB909DF54}"/>
              </a:ext>
            </a:extLst>
          </p:cNvPr>
          <p:cNvCxnSpPr>
            <a:cxnSpLocks/>
          </p:cNvCxnSpPr>
          <p:nvPr/>
        </p:nvCxnSpPr>
        <p:spPr>
          <a:xfrm flipH="1">
            <a:off x="2930562" y="4520556"/>
            <a:ext cx="621189" cy="5998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Прямая со стрелкой 39">
            <a:extLst>
              <a:ext uri="{FF2B5EF4-FFF2-40B4-BE49-F238E27FC236}">
                <a16:creationId xmlns:a16="http://schemas.microsoft.com/office/drawing/2014/main" id="{84ADF370-EC17-04D9-455D-DA497B378D48}"/>
              </a:ext>
            </a:extLst>
          </p:cNvPr>
          <p:cNvCxnSpPr>
            <a:cxnSpLocks/>
          </p:cNvCxnSpPr>
          <p:nvPr/>
        </p:nvCxnSpPr>
        <p:spPr>
          <a:xfrm>
            <a:off x="4155099" y="4515394"/>
            <a:ext cx="754842" cy="5792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1" name="TextBox 40">
            <a:extLst>
              <a:ext uri="{FF2B5EF4-FFF2-40B4-BE49-F238E27FC236}">
                <a16:creationId xmlns:a16="http://schemas.microsoft.com/office/drawing/2014/main" id="{D4C54EB9-9ADB-D6A0-5CCF-06DA67C7D98F}"/>
              </a:ext>
            </a:extLst>
          </p:cNvPr>
          <p:cNvSpPr txBox="1"/>
          <p:nvPr/>
        </p:nvSpPr>
        <p:spPr>
          <a:xfrm>
            <a:off x="1928560" y="5244118"/>
            <a:ext cx="2026645" cy="523220"/>
          </a:xfrm>
          <a:prstGeom prst="rect">
            <a:avLst/>
          </a:prstGeom>
          <a:noFill/>
        </p:spPr>
        <p:txBody>
          <a:bodyPr wrap="none" rtlCol="0">
            <a:spAutoFit/>
          </a:bodyPr>
          <a:lstStyle/>
          <a:p>
            <a:r>
              <a:rPr lang="en-US" sz="2800" dirty="0"/>
              <a:t>green region</a:t>
            </a:r>
            <a:endParaRPr lang="ru-RU" sz="2800" dirty="0"/>
          </a:p>
        </p:txBody>
      </p:sp>
      <p:sp>
        <p:nvSpPr>
          <p:cNvPr id="42" name="TextBox 41">
            <a:extLst>
              <a:ext uri="{FF2B5EF4-FFF2-40B4-BE49-F238E27FC236}">
                <a16:creationId xmlns:a16="http://schemas.microsoft.com/office/drawing/2014/main" id="{7AC86D40-9759-6ADA-AFF8-1A1A316F1667}"/>
              </a:ext>
            </a:extLst>
          </p:cNvPr>
          <p:cNvSpPr txBox="1"/>
          <p:nvPr/>
        </p:nvSpPr>
        <p:spPr>
          <a:xfrm>
            <a:off x="4240162" y="5260279"/>
            <a:ext cx="1680396" cy="523220"/>
          </a:xfrm>
          <a:prstGeom prst="rect">
            <a:avLst/>
          </a:prstGeom>
          <a:noFill/>
        </p:spPr>
        <p:txBody>
          <a:bodyPr wrap="none" rtlCol="0">
            <a:spAutoFit/>
          </a:bodyPr>
          <a:lstStyle/>
          <a:p>
            <a:r>
              <a:rPr lang="en-US" sz="2800" dirty="0"/>
              <a:t>red region</a:t>
            </a:r>
            <a:endParaRPr lang="ru-RU" sz="2800" dirty="0"/>
          </a:p>
        </p:txBody>
      </p:sp>
      <p:pic>
        <p:nvPicPr>
          <p:cNvPr id="44" name="Рисунок 43">
            <a:extLst>
              <a:ext uri="{FF2B5EF4-FFF2-40B4-BE49-F238E27FC236}">
                <a16:creationId xmlns:a16="http://schemas.microsoft.com/office/drawing/2014/main" id="{D66AC6D9-D539-0FEC-FDD7-D781731201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7656" y="2704196"/>
            <a:ext cx="3984157" cy="3032823"/>
          </a:xfrm>
          <a:prstGeom prst="rect">
            <a:avLst/>
          </a:prstGeom>
        </p:spPr>
      </p:pic>
    </p:spTree>
    <p:extLst>
      <p:ext uri="{BB962C8B-B14F-4D97-AF65-F5344CB8AC3E}">
        <p14:creationId xmlns:p14="http://schemas.microsoft.com/office/powerpoint/2010/main" val="3449750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5D41D0-EFD8-0294-8007-CC008A60A2F3}"/>
              </a:ext>
            </a:extLst>
          </p:cNvPr>
          <p:cNvSpPr>
            <a:spLocks noGrp="1"/>
          </p:cNvSpPr>
          <p:nvPr>
            <p:ph type="title"/>
          </p:nvPr>
        </p:nvSpPr>
        <p:spPr/>
        <p:txBody>
          <a:bodyPr/>
          <a:lstStyle/>
          <a:p>
            <a:r>
              <a:rPr lang="en-US" dirty="0"/>
              <a:t>Decision Trees for simple predicates</a:t>
            </a:r>
            <a:endParaRPr lang="ru-RU" dirty="0"/>
          </a:p>
        </p:txBody>
      </p:sp>
      <p:sp>
        <p:nvSpPr>
          <p:cNvPr id="4" name="TextBox 3">
            <a:extLst>
              <a:ext uri="{FF2B5EF4-FFF2-40B4-BE49-F238E27FC236}">
                <a16:creationId xmlns:a16="http://schemas.microsoft.com/office/drawing/2014/main" id="{A8F5B48D-C257-9F0B-E262-4CEB6C99511B}"/>
              </a:ext>
            </a:extLst>
          </p:cNvPr>
          <p:cNvSpPr txBox="1"/>
          <p:nvPr/>
        </p:nvSpPr>
        <p:spPr>
          <a:xfrm>
            <a:off x="838200" y="1520567"/>
            <a:ext cx="10294088" cy="954107"/>
          </a:xfrm>
          <a:prstGeom prst="rect">
            <a:avLst/>
          </a:prstGeom>
          <a:noFill/>
        </p:spPr>
        <p:txBody>
          <a:bodyPr wrap="square" rtlCol="0">
            <a:spAutoFit/>
          </a:bodyPr>
          <a:lstStyle/>
          <a:p>
            <a:r>
              <a:rPr lang="en-US" sz="2800" dirty="0"/>
              <a:t>With enough splitting steps DT with threshold predicates is able to overfit to arbitrary dataset!</a:t>
            </a:r>
            <a:endParaRPr lang="ru-RU" sz="2800" dirty="0"/>
          </a:p>
        </p:txBody>
      </p:sp>
      <p:pic>
        <p:nvPicPr>
          <p:cNvPr id="7" name="Рисунок 6">
            <a:extLst>
              <a:ext uri="{FF2B5EF4-FFF2-40B4-BE49-F238E27FC236}">
                <a16:creationId xmlns:a16="http://schemas.microsoft.com/office/drawing/2014/main" id="{3AF9EC6A-B85E-2093-8E73-1761601D6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997" y="2709098"/>
            <a:ext cx="3251367" cy="2736991"/>
          </a:xfrm>
          <a:prstGeom prst="rect">
            <a:avLst/>
          </a:prstGeom>
        </p:spPr>
      </p:pic>
      <p:pic>
        <p:nvPicPr>
          <p:cNvPr id="9" name="Рисунок 8">
            <a:extLst>
              <a:ext uri="{FF2B5EF4-FFF2-40B4-BE49-F238E27FC236}">
                <a16:creationId xmlns:a16="http://schemas.microsoft.com/office/drawing/2014/main" id="{56FC1905-D035-FFD6-9E63-875D7F609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2142" y="2736857"/>
            <a:ext cx="3149762" cy="2762392"/>
          </a:xfrm>
          <a:prstGeom prst="rect">
            <a:avLst/>
          </a:prstGeom>
        </p:spPr>
      </p:pic>
      <p:pic>
        <p:nvPicPr>
          <p:cNvPr id="11" name="Рисунок 10">
            <a:extLst>
              <a:ext uri="{FF2B5EF4-FFF2-40B4-BE49-F238E27FC236}">
                <a16:creationId xmlns:a16="http://schemas.microsoft.com/office/drawing/2014/main" id="{5B37D3FC-C822-ADF5-F11C-C1312E7C79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8813" y="2718534"/>
            <a:ext cx="3149762" cy="2781686"/>
          </a:xfrm>
          <a:prstGeom prst="rect">
            <a:avLst/>
          </a:prstGeom>
        </p:spPr>
      </p:pic>
    </p:spTree>
    <p:extLst>
      <p:ext uri="{BB962C8B-B14F-4D97-AF65-F5344CB8AC3E}">
        <p14:creationId xmlns:p14="http://schemas.microsoft.com/office/powerpoint/2010/main" val="1151643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FEB925-5C67-E9B5-96E5-F7631CA46BB2}"/>
              </a:ext>
            </a:extLst>
          </p:cNvPr>
          <p:cNvSpPr>
            <a:spLocks noGrp="1"/>
          </p:cNvSpPr>
          <p:nvPr>
            <p:ph type="title"/>
          </p:nvPr>
        </p:nvSpPr>
        <p:spPr/>
        <p:txBody>
          <a:bodyPr/>
          <a:lstStyle/>
          <a:p>
            <a:r>
              <a:rPr lang="en-US" dirty="0"/>
              <a:t>Training Decision Trees</a:t>
            </a:r>
            <a:endParaRPr lang="ru-RU" dirty="0"/>
          </a:p>
        </p:txBody>
      </p:sp>
      <p:pic>
        <p:nvPicPr>
          <p:cNvPr id="6" name="Рисунок 5">
            <a:extLst>
              <a:ext uri="{FF2B5EF4-FFF2-40B4-BE49-F238E27FC236}">
                <a16:creationId xmlns:a16="http://schemas.microsoft.com/office/drawing/2014/main" id="{6885D7B7-B5CD-2B3E-4037-033C4B84A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9497" y="1552184"/>
            <a:ext cx="2551778" cy="517253"/>
          </a:xfrm>
          <a:prstGeom prst="rect">
            <a:avLst/>
          </a:prstGeom>
        </p:spPr>
      </p:pic>
      <p:sp>
        <p:nvSpPr>
          <p:cNvPr id="7" name="TextBox 6">
            <a:extLst>
              <a:ext uri="{FF2B5EF4-FFF2-40B4-BE49-F238E27FC236}">
                <a16:creationId xmlns:a16="http://schemas.microsoft.com/office/drawing/2014/main" id="{2B2B0FEA-1E3C-8BD1-E6DC-CE7515113B4F}"/>
              </a:ext>
            </a:extLst>
          </p:cNvPr>
          <p:cNvSpPr txBox="1"/>
          <p:nvPr/>
        </p:nvSpPr>
        <p:spPr>
          <a:xfrm>
            <a:off x="838200" y="1529882"/>
            <a:ext cx="8294649" cy="2246769"/>
          </a:xfrm>
          <a:prstGeom prst="rect">
            <a:avLst/>
          </a:prstGeom>
          <a:noFill/>
        </p:spPr>
        <p:txBody>
          <a:bodyPr wrap="square" rtlCol="0">
            <a:spAutoFit/>
          </a:bodyPr>
          <a:lstStyle/>
          <a:p>
            <a:r>
              <a:rPr lang="en-US" sz="2800" dirty="0"/>
              <a:t>Procedure</a:t>
            </a:r>
          </a:p>
          <a:p>
            <a:r>
              <a:rPr lang="en-US" sz="2800" dirty="0"/>
              <a:t>	If stopping criteria is satisfied:</a:t>
            </a:r>
          </a:p>
          <a:p>
            <a:r>
              <a:rPr lang="en-US" sz="2800" dirty="0"/>
              <a:t>		find prediction</a:t>
            </a:r>
          </a:p>
          <a:p>
            <a:r>
              <a:rPr lang="en-US" sz="2800" dirty="0"/>
              <a:t>		m = leaf</a:t>
            </a:r>
          </a:p>
          <a:p>
            <a:r>
              <a:rPr lang="en-US" sz="2800" dirty="0"/>
              <a:t>		exit</a:t>
            </a:r>
            <a:endParaRPr lang="ru-RU" sz="2800" dirty="0"/>
          </a:p>
        </p:txBody>
      </p:sp>
      <p:pic>
        <p:nvPicPr>
          <p:cNvPr id="9" name="Рисунок 8">
            <a:extLst>
              <a:ext uri="{FF2B5EF4-FFF2-40B4-BE49-F238E27FC236}">
                <a16:creationId xmlns:a16="http://schemas.microsoft.com/office/drawing/2014/main" id="{EBE82C2B-773A-79D5-2D6C-8B347FAF7C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2178" y="3717995"/>
            <a:ext cx="4526040" cy="709041"/>
          </a:xfrm>
          <a:prstGeom prst="rect">
            <a:avLst/>
          </a:prstGeom>
        </p:spPr>
      </p:pic>
      <p:pic>
        <p:nvPicPr>
          <p:cNvPr id="15" name="Рисунок 14">
            <a:extLst>
              <a:ext uri="{FF2B5EF4-FFF2-40B4-BE49-F238E27FC236}">
                <a16:creationId xmlns:a16="http://schemas.microsoft.com/office/drawing/2014/main" id="{7EB7D1A5-F50B-0B8E-ABF8-8E76AA2169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9708" y="5603239"/>
            <a:ext cx="1968454" cy="444490"/>
          </a:xfrm>
          <a:prstGeom prst="rect">
            <a:avLst/>
          </a:prstGeom>
        </p:spPr>
      </p:pic>
      <p:pic>
        <p:nvPicPr>
          <p:cNvPr id="17" name="Рисунок 16">
            <a:extLst>
              <a:ext uri="{FF2B5EF4-FFF2-40B4-BE49-F238E27FC236}">
                <a16:creationId xmlns:a16="http://schemas.microsoft.com/office/drawing/2014/main" id="{0BF636CB-99B9-CBA5-43CD-D343D7021B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5355" y="6125786"/>
            <a:ext cx="2031948" cy="444489"/>
          </a:xfrm>
          <a:prstGeom prst="rect">
            <a:avLst/>
          </a:prstGeom>
        </p:spPr>
      </p:pic>
      <p:pic>
        <p:nvPicPr>
          <p:cNvPr id="19" name="Рисунок 18">
            <a:extLst>
              <a:ext uri="{FF2B5EF4-FFF2-40B4-BE49-F238E27FC236}">
                <a16:creationId xmlns:a16="http://schemas.microsoft.com/office/drawing/2014/main" id="{F0D9AFDD-754C-661D-41DF-C11A7817F1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1452" y="2436700"/>
            <a:ext cx="603799" cy="483039"/>
          </a:xfrm>
          <a:prstGeom prst="rect">
            <a:avLst/>
          </a:prstGeom>
        </p:spPr>
      </p:pic>
      <p:pic>
        <p:nvPicPr>
          <p:cNvPr id="4" name="Рисунок 3">
            <a:extLst>
              <a:ext uri="{FF2B5EF4-FFF2-40B4-BE49-F238E27FC236}">
                <a16:creationId xmlns:a16="http://schemas.microsoft.com/office/drawing/2014/main" id="{EEF400DF-1B3A-B689-4EDE-6E0A0D2E97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02178" y="4427036"/>
            <a:ext cx="4742883" cy="525818"/>
          </a:xfrm>
          <a:prstGeom prst="rect">
            <a:avLst/>
          </a:prstGeom>
        </p:spPr>
      </p:pic>
      <p:pic>
        <p:nvPicPr>
          <p:cNvPr id="8" name="Рисунок 7">
            <a:extLst>
              <a:ext uri="{FF2B5EF4-FFF2-40B4-BE49-F238E27FC236}">
                <a16:creationId xmlns:a16="http://schemas.microsoft.com/office/drawing/2014/main" id="{5BFD38E8-A91F-CE61-40BD-30C596C6D93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80665" y="4995024"/>
            <a:ext cx="4722046" cy="525818"/>
          </a:xfrm>
          <a:prstGeom prst="rect">
            <a:avLst/>
          </a:prstGeom>
        </p:spPr>
      </p:pic>
    </p:spTree>
    <p:extLst>
      <p:ext uri="{BB962C8B-B14F-4D97-AF65-F5344CB8AC3E}">
        <p14:creationId xmlns:p14="http://schemas.microsoft.com/office/powerpoint/2010/main" val="155547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988376-86A7-723A-E928-08BDDFE755A1}"/>
              </a:ext>
            </a:extLst>
          </p:cNvPr>
          <p:cNvSpPr>
            <a:spLocks noGrp="1"/>
          </p:cNvSpPr>
          <p:nvPr>
            <p:ph type="title"/>
          </p:nvPr>
        </p:nvSpPr>
        <p:spPr/>
        <p:txBody>
          <a:bodyPr/>
          <a:lstStyle/>
          <a:p>
            <a:r>
              <a:rPr lang="en-US" dirty="0"/>
              <a:t>Training Decision Trees</a:t>
            </a:r>
            <a:endParaRPr lang="ru-RU" dirty="0"/>
          </a:p>
        </p:txBody>
      </p:sp>
      <p:sp>
        <p:nvSpPr>
          <p:cNvPr id="3" name="Объект 2">
            <a:extLst>
              <a:ext uri="{FF2B5EF4-FFF2-40B4-BE49-F238E27FC236}">
                <a16:creationId xmlns:a16="http://schemas.microsoft.com/office/drawing/2014/main" id="{AEC7277A-127F-0DE6-7E8C-1DB138C4519B}"/>
              </a:ext>
            </a:extLst>
          </p:cNvPr>
          <p:cNvSpPr>
            <a:spLocks noGrp="1"/>
          </p:cNvSpPr>
          <p:nvPr>
            <p:ph idx="1"/>
          </p:nvPr>
        </p:nvSpPr>
        <p:spPr>
          <a:xfrm>
            <a:off x="838200" y="1825625"/>
            <a:ext cx="10515600" cy="2831435"/>
          </a:xfrm>
        </p:spPr>
        <p:txBody>
          <a:bodyPr/>
          <a:lstStyle/>
          <a:p>
            <a:r>
              <a:rPr lang="en-US" dirty="0"/>
              <a:t>Choose stopping criteria</a:t>
            </a:r>
          </a:p>
          <a:p>
            <a:r>
              <a:rPr lang="en-US" dirty="0"/>
              <a:t>Choose constant prediction in leaves</a:t>
            </a:r>
          </a:p>
          <a:p>
            <a:r>
              <a:rPr lang="en-US" dirty="0"/>
              <a:t>Choose splitting criteria</a:t>
            </a:r>
          </a:p>
          <a:p>
            <a:r>
              <a:rPr lang="en-US" dirty="0"/>
              <a:t>Choose pruning method</a:t>
            </a:r>
          </a:p>
          <a:p>
            <a:r>
              <a:rPr lang="en-US" dirty="0"/>
              <a:t>Choose the way to work with missing values and categorical features</a:t>
            </a:r>
          </a:p>
        </p:txBody>
      </p:sp>
      <p:sp>
        <p:nvSpPr>
          <p:cNvPr id="4" name="TextBox 3">
            <a:extLst>
              <a:ext uri="{FF2B5EF4-FFF2-40B4-BE49-F238E27FC236}">
                <a16:creationId xmlns:a16="http://schemas.microsoft.com/office/drawing/2014/main" id="{10269878-B738-45EB-A1D6-62E56B535EBB}"/>
              </a:ext>
            </a:extLst>
          </p:cNvPr>
          <p:cNvSpPr txBox="1"/>
          <p:nvPr/>
        </p:nvSpPr>
        <p:spPr>
          <a:xfrm>
            <a:off x="838200" y="4817470"/>
            <a:ext cx="8806322" cy="523220"/>
          </a:xfrm>
          <a:prstGeom prst="rect">
            <a:avLst/>
          </a:prstGeom>
          <a:noFill/>
        </p:spPr>
        <p:txBody>
          <a:bodyPr wrap="none" rtlCol="0">
            <a:spAutoFit/>
          </a:bodyPr>
          <a:lstStyle/>
          <a:p>
            <a:r>
              <a:rPr lang="en-US" sz="2800" dirty="0"/>
              <a:t>These exist many DT implementations: ID3, C4.5, CART, etc.</a:t>
            </a:r>
            <a:endParaRPr lang="ru-RU" sz="2800" dirty="0"/>
          </a:p>
        </p:txBody>
      </p:sp>
    </p:spTree>
    <p:extLst>
      <p:ext uri="{BB962C8B-B14F-4D97-AF65-F5344CB8AC3E}">
        <p14:creationId xmlns:p14="http://schemas.microsoft.com/office/powerpoint/2010/main" val="3971141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09C452-23AA-E46B-914F-4F947CBDC416}"/>
              </a:ext>
            </a:extLst>
          </p:cNvPr>
          <p:cNvSpPr>
            <a:spLocks noGrp="1"/>
          </p:cNvSpPr>
          <p:nvPr>
            <p:ph type="title"/>
          </p:nvPr>
        </p:nvSpPr>
        <p:spPr/>
        <p:txBody>
          <a:bodyPr/>
          <a:lstStyle/>
          <a:p>
            <a:r>
              <a:rPr lang="en-US" dirty="0"/>
              <a:t>Stopping criteria</a:t>
            </a:r>
            <a:endParaRPr lang="ru-RU" dirty="0"/>
          </a:p>
        </p:txBody>
      </p:sp>
      <p:sp>
        <p:nvSpPr>
          <p:cNvPr id="4" name="TextBox 3">
            <a:extLst>
              <a:ext uri="{FF2B5EF4-FFF2-40B4-BE49-F238E27FC236}">
                <a16:creationId xmlns:a16="http://schemas.microsoft.com/office/drawing/2014/main" id="{029EF708-B231-B6D9-7D0D-FAC0DED7A8F4}"/>
              </a:ext>
            </a:extLst>
          </p:cNvPr>
          <p:cNvSpPr txBox="1"/>
          <p:nvPr/>
        </p:nvSpPr>
        <p:spPr>
          <a:xfrm>
            <a:off x="838201" y="1690688"/>
            <a:ext cx="9379688" cy="4401205"/>
          </a:xfrm>
          <a:prstGeom prst="rect">
            <a:avLst/>
          </a:prstGeom>
          <a:noFill/>
        </p:spPr>
        <p:txBody>
          <a:bodyPr wrap="square" rtlCol="0">
            <a:spAutoFit/>
          </a:bodyPr>
          <a:lstStyle/>
          <a:p>
            <a:pPr marL="342900" indent="-342900">
              <a:buAutoNum type="arabicParenR"/>
            </a:pPr>
            <a:r>
              <a:rPr lang="en-US" sz="2800" dirty="0"/>
              <a:t>If all objects belong to one class (quality of constant prediction is below some threshold)</a:t>
            </a:r>
          </a:p>
          <a:p>
            <a:pPr marL="342900" indent="-342900">
              <a:buAutoNum type="arabicParenR"/>
            </a:pPr>
            <a:endParaRPr lang="en-US" sz="2800" dirty="0"/>
          </a:p>
          <a:p>
            <a:pPr marL="342900" indent="-342900">
              <a:buAutoNum type="arabicParenR"/>
            </a:pPr>
            <a:r>
              <a:rPr lang="en-US" sz="2800" dirty="0"/>
              <a:t>If maximal tree depth is reached</a:t>
            </a:r>
          </a:p>
          <a:p>
            <a:pPr marL="342900" indent="-342900">
              <a:buAutoNum type="arabicParenR"/>
            </a:pPr>
            <a:endParaRPr lang="en-US" sz="2800" dirty="0"/>
          </a:p>
          <a:p>
            <a:pPr marL="342900" indent="-342900">
              <a:buAutoNum type="arabicParenR"/>
            </a:pPr>
            <a:r>
              <a:rPr lang="en-US" sz="2800" dirty="0"/>
              <a:t>If</a:t>
            </a:r>
          </a:p>
          <a:p>
            <a:pPr marL="342900" indent="-342900">
              <a:buAutoNum type="arabicParenR"/>
            </a:pPr>
            <a:endParaRPr lang="en-US" sz="2800" dirty="0"/>
          </a:p>
          <a:p>
            <a:pPr marL="342900" indent="-342900">
              <a:buAutoNum type="arabicParenR"/>
            </a:pPr>
            <a:r>
              <a:rPr lang="en-US" sz="2800" dirty="0"/>
              <a:t>If maximal number of leaves is reached</a:t>
            </a:r>
          </a:p>
          <a:p>
            <a:pPr marL="342900" indent="-342900">
              <a:buAutoNum type="arabicParenR"/>
            </a:pPr>
            <a:endParaRPr lang="en-US" sz="2800" dirty="0"/>
          </a:p>
          <a:p>
            <a:pPr marL="342900" indent="-342900">
              <a:buAutoNum type="arabicParenR"/>
            </a:pPr>
            <a:r>
              <a:rPr lang="en-US" sz="2800" dirty="0"/>
              <a:t>If a splitting criteria in current node is below some threshold</a:t>
            </a:r>
            <a:endParaRPr lang="ru-RU" sz="2800" dirty="0"/>
          </a:p>
        </p:txBody>
      </p:sp>
      <p:pic>
        <p:nvPicPr>
          <p:cNvPr id="6" name="Рисунок 5">
            <a:extLst>
              <a:ext uri="{FF2B5EF4-FFF2-40B4-BE49-F238E27FC236}">
                <a16:creationId xmlns:a16="http://schemas.microsoft.com/office/drawing/2014/main" id="{00985159-F897-5338-78E4-6945080E8B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513" y="3843681"/>
            <a:ext cx="1373944" cy="479790"/>
          </a:xfrm>
          <a:prstGeom prst="rect">
            <a:avLst/>
          </a:prstGeom>
        </p:spPr>
      </p:pic>
    </p:spTree>
    <p:extLst>
      <p:ext uri="{BB962C8B-B14F-4D97-AF65-F5344CB8AC3E}">
        <p14:creationId xmlns:p14="http://schemas.microsoft.com/office/powerpoint/2010/main" val="4039337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5AB0B7-4369-9CCF-2CEA-99611B4D6DCC}"/>
              </a:ext>
            </a:extLst>
          </p:cNvPr>
          <p:cNvSpPr>
            <a:spLocks noGrp="1"/>
          </p:cNvSpPr>
          <p:nvPr>
            <p:ph type="title"/>
          </p:nvPr>
        </p:nvSpPr>
        <p:spPr/>
        <p:txBody>
          <a:bodyPr/>
          <a:lstStyle/>
          <a:p>
            <a:r>
              <a:rPr lang="en-US" dirty="0"/>
              <a:t>How to find prediction in leaf?</a:t>
            </a:r>
            <a:endParaRPr lang="ru-RU" dirty="0"/>
          </a:p>
        </p:txBody>
      </p:sp>
      <p:sp>
        <p:nvSpPr>
          <p:cNvPr id="4" name="TextBox 3">
            <a:extLst>
              <a:ext uri="{FF2B5EF4-FFF2-40B4-BE49-F238E27FC236}">
                <a16:creationId xmlns:a16="http://schemas.microsoft.com/office/drawing/2014/main" id="{217D817F-8E32-2A50-755D-9A45F13FB39D}"/>
              </a:ext>
            </a:extLst>
          </p:cNvPr>
          <p:cNvSpPr txBox="1"/>
          <p:nvPr/>
        </p:nvSpPr>
        <p:spPr>
          <a:xfrm>
            <a:off x="838200" y="1690688"/>
            <a:ext cx="1856790" cy="523220"/>
          </a:xfrm>
          <a:prstGeom prst="rect">
            <a:avLst/>
          </a:prstGeom>
          <a:noFill/>
        </p:spPr>
        <p:txBody>
          <a:bodyPr wrap="none" rtlCol="0">
            <a:spAutoFit/>
          </a:bodyPr>
          <a:lstStyle/>
          <a:p>
            <a:r>
              <a:rPr lang="en-US" sz="2800" dirty="0"/>
              <a:t>Regression:</a:t>
            </a:r>
            <a:endParaRPr lang="ru-RU" sz="2800" dirty="0"/>
          </a:p>
        </p:txBody>
      </p:sp>
      <p:pic>
        <p:nvPicPr>
          <p:cNvPr id="8" name="Рисунок 7">
            <a:extLst>
              <a:ext uri="{FF2B5EF4-FFF2-40B4-BE49-F238E27FC236}">
                <a16:creationId xmlns:a16="http://schemas.microsoft.com/office/drawing/2014/main" id="{19B461DB-9802-ED79-0C7A-67D2E683B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970" y="2500825"/>
            <a:ext cx="2476424" cy="643228"/>
          </a:xfrm>
          <a:prstGeom prst="rect">
            <a:avLst/>
          </a:prstGeom>
        </p:spPr>
      </p:pic>
      <p:pic>
        <p:nvPicPr>
          <p:cNvPr id="10" name="Рисунок 9">
            <a:extLst>
              <a:ext uri="{FF2B5EF4-FFF2-40B4-BE49-F238E27FC236}">
                <a16:creationId xmlns:a16="http://schemas.microsoft.com/office/drawing/2014/main" id="{928A2DD0-B6C4-5D17-44D7-DE766E6A69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2193" y="3336851"/>
            <a:ext cx="2430770" cy="570603"/>
          </a:xfrm>
          <a:prstGeom prst="rect">
            <a:avLst/>
          </a:prstGeom>
        </p:spPr>
      </p:pic>
      <p:sp>
        <p:nvSpPr>
          <p:cNvPr id="11" name="TextBox 10">
            <a:extLst>
              <a:ext uri="{FF2B5EF4-FFF2-40B4-BE49-F238E27FC236}">
                <a16:creationId xmlns:a16="http://schemas.microsoft.com/office/drawing/2014/main" id="{CED0082D-A923-272B-56EE-3689EA758410}"/>
              </a:ext>
            </a:extLst>
          </p:cNvPr>
          <p:cNvSpPr txBox="1"/>
          <p:nvPr/>
        </p:nvSpPr>
        <p:spPr>
          <a:xfrm>
            <a:off x="876452" y="2549678"/>
            <a:ext cx="832279" cy="523220"/>
          </a:xfrm>
          <a:prstGeom prst="rect">
            <a:avLst/>
          </a:prstGeom>
          <a:noFill/>
        </p:spPr>
        <p:txBody>
          <a:bodyPr wrap="none" rtlCol="0">
            <a:spAutoFit/>
          </a:bodyPr>
          <a:lstStyle/>
          <a:p>
            <a:r>
              <a:rPr lang="en-US" sz="2800" dirty="0"/>
              <a:t>MSE</a:t>
            </a:r>
            <a:endParaRPr lang="ru-RU" sz="2800" dirty="0"/>
          </a:p>
        </p:txBody>
      </p:sp>
      <p:sp>
        <p:nvSpPr>
          <p:cNvPr id="12" name="TextBox 11">
            <a:extLst>
              <a:ext uri="{FF2B5EF4-FFF2-40B4-BE49-F238E27FC236}">
                <a16:creationId xmlns:a16="http://schemas.microsoft.com/office/drawing/2014/main" id="{A993E176-95C9-DEA8-33E7-DE262B8ADA52}"/>
              </a:ext>
            </a:extLst>
          </p:cNvPr>
          <p:cNvSpPr txBox="1"/>
          <p:nvPr/>
        </p:nvSpPr>
        <p:spPr>
          <a:xfrm>
            <a:off x="883888" y="3348844"/>
            <a:ext cx="875561" cy="523220"/>
          </a:xfrm>
          <a:prstGeom prst="rect">
            <a:avLst/>
          </a:prstGeom>
          <a:noFill/>
        </p:spPr>
        <p:txBody>
          <a:bodyPr wrap="none" rtlCol="0">
            <a:spAutoFit/>
          </a:bodyPr>
          <a:lstStyle/>
          <a:p>
            <a:r>
              <a:rPr lang="en-US" sz="2800" dirty="0"/>
              <a:t>MAE</a:t>
            </a:r>
          </a:p>
        </p:txBody>
      </p:sp>
      <p:pic>
        <p:nvPicPr>
          <p:cNvPr id="14" name="Рисунок 13">
            <a:extLst>
              <a:ext uri="{FF2B5EF4-FFF2-40B4-BE49-F238E27FC236}">
                <a16:creationId xmlns:a16="http://schemas.microsoft.com/office/drawing/2014/main" id="{0B981A26-0673-E549-6F5D-791CDCC413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3224" y="2414780"/>
            <a:ext cx="2476423" cy="1007722"/>
          </a:xfrm>
          <a:prstGeom prst="rect">
            <a:avLst/>
          </a:prstGeom>
        </p:spPr>
      </p:pic>
      <p:pic>
        <p:nvPicPr>
          <p:cNvPr id="16" name="Рисунок 15">
            <a:extLst>
              <a:ext uri="{FF2B5EF4-FFF2-40B4-BE49-F238E27FC236}">
                <a16:creationId xmlns:a16="http://schemas.microsoft.com/office/drawing/2014/main" id="{AEDAB752-24BD-ECF1-C6E1-48E373D1D5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37561" y="3367351"/>
            <a:ext cx="4222636" cy="540104"/>
          </a:xfrm>
          <a:prstGeom prst="rect">
            <a:avLst/>
          </a:prstGeom>
        </p:spPr>
      </p:pic>
      <p:sp>
        <p:nvSpPr>
          <p:cNvPr id="17" name="TextBox 16">
            <a:extLst>
              <a:ext uri="{FF2B5EF4-FFF2-40B4-BE49-F238E27FC236}">
                <a16:creationId xmlns:a16="http://schemas.microsoft.com/office/drawing/2014/main" id="{A40BE534-65FE-6EDB-E3C6-28B0408DEF37}"/>
              </a:ext>
            </a:extLst>
          </p:cNvPr>
          <p:cNvSpPr txBox="1"/>
          <p:nvPr/>
        </p:nvSpPr>
        <p:spPr>
          <a:xfrm>
            <a:off x="883888" y="4265039"/>
            <a:ext cx="10398809" cy="1384995"/>
          </a:xfrm>
          <a:prstGeom prst="rect">
            <a:avLst/>
          </a:prstGeom>
          <a:noFill/>
        </p:spPr>
        <p:txBody>
          <a:bodyPr wrap="none" rtlCol="0">
            <a:spAutoFit/>
          </a:bodyPr>
          <a:lstStyle/>
          <a:p>
            <a:r>
              <a:rPr lang="en-US" sz="2800" dirty="0"/>
              <a:t>Classification:</a:t>
            </a:r>
          </a:p>
          <a:p>
            <a:pPr marL="514350" indent="-514350">
              <a:buAutoNum type="arabicParenR"/>
            </a:pPr>
            <a:r>
              <a:rPr lang="en-US" sz="2800" dirty="0"/>
              <a:t>Most frequent class</a:t>
            </a:r>
          </a:p>
          <a:p>
            <a:pPr marL="514350" indent="-514350">
              <a:buAutoNum type="arabicParenR"/>
            </a:pPr>
            <a:r>
              <a:rPr lang="en-US" sz="2800" dirty="0"/>
              <a:t>Class probabilities (the same as to use logistic loss in minimization)</a:t>
            </a:r>
            <a:endParaRPr lang="ru-RU" sz="2800" dirty="0"/>
          </a:p>
        </p:txBody>
      </p:sp>
      <p:pic>
        <p:nvPicPr>
          <p:cNvPr id="5" name="Рисунок 4">
            <a:extLst>
              <a:ext uri="{FF2B5EF4-FFF2-40B4-BE49-F238E27FC236}">
                <a16:creationId xmlns:a16="http://schemas.microsoft.com/office/drawing/2014/main" id="{D6687C6A-9CEC-069C-8FE6-CB6A83330D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4323" y="1591227"/>
            <a:ext cx="3296091" cy="1007722"/>
          </a:xfrm>
          <a:prstGeom prst="rect">
            <a:avLst/>
          </a:prstGeom>
        </p:spPr>
      </p:pic>
    </p:spTree>
    <p:extLst>
      <p:ext uri="{BB962C8B-B14F-4D97-AF65-F5344CB8AC3E}">
        <p14:creationId xmlns:p14="http://schemas.microsoft.com/office/powerpoint/2010/main" val="3718704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52AA10-EECC-6EFE-BAA9-243B49519FF3}"/>
              </a:ext>
            </a:extLst>
          </p:cNvPr>
          <p:cNvSpPr>
            <a:spLocks noGrp="1"/>
          </p:cNvSpPr>
          <p:nvPr>
            <p:ph type="title"/>
          </p:nvPr>
        </p:nvSpPr>
        <p:spPr/>
        <p:txBody>
          <a:bodyPr/>
          <a:lstStyle/>
          <a:p>
            <a:r>
              <a:rPr lang="en-US" dirty="0"/>
              <a:t>How to find good predicate?</a:t>
            </a:r>
            <a:endParaRPr lang="ru-RU" dirty="0"/>
          </a:p>
        </p:txBody>
      </p:sp>
      <p:pic>
        <p:nvPicPr>
          <p:cNvPr id="4" name="Рисунок 3">
            <a:extLst>
              <a:ext uri="{FF2B5EF4-FFF2-40B4-BE49-F238E27FC236}">
                <a16:creationId xmlns:a16="http://schemas.microsoft.com/office/drawing/2014/main" id="{971FADD9-4309-861B-4B38-617FA128A3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076" y="1487751"/>
            <a:ext cx="4526040" cy="709041"/>
          </a:xfrm>
          <a:prstGeom prst="rect">
            <a:avLst/>
          </a:prstGeom>
        </p:spPr>
      </p:pic>
      <p:sp>
        <p:nvSpPr>
          <p:cNvPr id="5" name="TextBox 4">
            <a:extLst>
              <a:ext uri="{FF2B5EF4-FFF2-40B4-BE49-F238E27FC236}">
                <a16:creationId xmlns:a16="http://schemas.microsoft.com/office/drawing/2014/main" id="{282768CB-F77B-4786-45B2-C7A71A21AD41}"/>
              </a:ext>
            </a:extLst>
          </p:cNvPr>
          <p:cNvSpPr txBox="1"/>
          <p:nvPr/>
        </p:nvSpPr>
        <p:spPr>
          <a:xfrm>
            <a:off x="668076" y="2551704"/>
            <a:ext cx="5655394" cy="523220"/>
          </a:xfrm>
          <a:prstGeom prst="rect">
            <a:avLst/>
          </a:prstGeom>
          <a:noFill/>
        </p:spPr>
        <p:txBody>
          <a:bodyPr wrap="none" rtlCol="0">
            <a:spAutoFit/>
          </a:bodyPr>
          <a:lstStyle/>
          <a:p>
            <a:r>
              <a:rPr lang="en-US" sz="2800" dirty="0"/>
              <a:t>Let’s introduce some Impurity criteria</a:t>
            </a:r>
            <a:endParaRPr lang="ru-RU" sz="2800" dirty="0"/>
          </a:p>
        </p:txBody>
      </p:sp>
      <p:pic>
        <p:nvPicPr>
          <p:cNvPr id="7" name="Рисунок 6">
            <a:extLst>
              <a:ext uri="{FF2B5EF4-FFF2-40B4-BE49-F238E27FC236}">
                <a16:creationId xmlns:a16="http://schemas.microsoft.com/office/drawing/2014/main" id="{9E0C7B61-2ECC-E7B9-63A3-B8CCCD45A8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4585" y="2569447"/>
            <a:ext cx="1069190" cy="523220"/>
          </a:xfrm>
          <a:prstGeom prst="rect">
            <a:avLst/>
          </a:prstGeom>
        </p:spPr>
      </p:pic>
      <p:sp>
        <p:nvSpPr>
          <p:cNvPr id="9" name="TextBox 8">
            <a:extLst>
              <a:ext uri="{FF2B5EF4-FFF2-40B4-BE49-F238E27FC236}">
                <a16:creationId xmlns:a16="http://schemas.microsoft.com/office/drawing/2014/main" id="{0497002D-D7B0-86C3-9282-67317ABABC26}"/>
              </a:ext>
            </a:extLst>
          </p:cNvPr>
          <p:cNvSpPr txBox="1"/>
          <p:nvPr/>
        </p:nvSpPr>
        <p:spPr>
          <a:xfrm>
            <a:off x="675513" y="3161303"/>
            <a:ext cx="7979813" cy="523220"/>
          </a:xfrm>
          <a:prstGeom prst="rect">
            <a:avLst/>
          </a:prstGeom>
          <a:noFill/>
        </p:spPr>
        <p:txBody>
          <a:bodyPr wrap="none" rtlCol="0">
            <a:spAutoFit/>
          </a:bodyPr>
          <a:lstStyle/>
          <a:p>
            <a:r>
              <a:rPr lang="en-US" sz="2800" dirty="0"/>
              <a:t>Impurity is</a:t>
            </a:r>
            <a:r>
              <a:rPr lang="ru-RU" sz="2800" dirty="0"/>
              <a:t> </a:t>
            </a:r>
            <a:r>
              <a:rPr lang="en-US" sz="2800" dirty="0"/>
              <a:t>higher if diversity of target values is higher</a:t>
            </a:r>
            <a:endParaRPr lang="ru-RU" sz="2800" dirty="0"/>
          </a:p>
        </p:txBody>
      </p:sp>
      <p:pic>
        <p:nvPicPr>
          <p:cNvPr id="11" name="Рисунок 10">
            <a:extLst>
              <a:ext uri="{FF2B5EF4-FFF2-40B4-BE49-F238E27FC236}">
                <a16:creationId xmlns:a16="http://schemas.microsoft.com/office/drawing/2014/main" id="{1106660A-639C-1CBD-3AA2-820766615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9599" y="4872726"/>
            <a:ext cx="8557130" cy="1097068"/>
          </a:xfrm>
          <a:prstGeom prst="rect">
            <a:avLst/>
          </a:prstGeom>
        </p:spPr>
      </p:pic>
      <p:sp>
        <p:nvSpPr>
          <p:cNvPr id="12" name="TextBox 11">
            <a:extLst>
              <a:ext uri="{FF2B5EF4-FFF2-40B4-BE49-F238E27FC236}">
                <a16:creationId xmlns:a16="http://schemas.microsoft.com/office/drawing/2014/main" id="{4909B525-B1DD-E3FF-20E8-FC6756106EF1}"/>
              </a:ext>
            </a:extLst>
          </p:cNvPr>
          <p:cNvSpPr txBox="1"/>
          <p:nvPr/>
        </p:nvSpPr>
        <p:spPr>
          <a:xfrm>
            <a:off x="675514" y="3805455"/>
            <a:ext cx="9241337" cy="954107"/>
          </a:xfrm>
          <a:prstGeom prst="rect">
            <a:avLst/>
          </a:prstGeom>
          <a:noFill/>
        </p:spPr>
        <p:txBody>
          <a:bodyPr wrap="square" rtlCol="0">
            <a:spAutoFit/>
          </a:bodyPr>
          <a:lstStyle/>
          <a:p>
            <a:r>
              <a:rPr lang="en-US" sz="2800" dirty="0"/>
              <a:t>Criteria for finding good predicate = big reduction of impurity (Information Gain):</a:t>
            </a:r>
            <a:endParaRPr lang="ru-RU" sz="2800" dirty="0"/>
          </a:p>
        </p:txBody>
      </p:sp>
      <p:sp>
        <p:nvSpPr>
          <p:cNvPr id="3" name="TextBox 2">
            <a:extLst>
              <a:ext uri="{FF2B5EF4-FFF2-40B4-BE49-F238E27FC236}">
                <a16:creationId xmlns:a16="http://schemas.microsoft.com/office/drawing/2014/main" id="{020C09A0-6628-5392-2FF8-B194911C448A}"/>
              </a:ext>
            </a:extLst>
          </p:cNvPr>
          <p:cNvSpPr txBox="1"/>
          <p:nvPr/>
        </p:nvSpPr>
        <p:spPr>
          <a:xfrm>
            <a:off x="625546" y="6107644"/>
            <a:ext cx="11580628" cy="523220"/>
          </a:xfrm>
          <a:prstGeom prst="rect">
            <a:avLst/>
          </a:prstGeom>
          <a:noFill/>
        </p:spPr>
        <p:txBody>
          <a:bodyPr wrap="square" rtlCol="0">
            <a:spAutoFit/>
          </a:bodyPr>
          <a:lstStyle/>
          <a:p>
            <a:r>
              <a:rPr lang="en-US" sz="2800" dirty="0"/>
              <a:t>Note: For DT there is no necessity to make a preliminary feature normalization</a:t>
            </a:r>
            <a:endParaRPr lang="ru-RU" sz="2800" dirty="0"/>
          </a:p>
        </p:txBody>
      </p:sp>
    </p:spTree>
    <p:extLst>
      <p:ext uri="{BB962C8B-B14F-4D97-AF65-F5344CB8AC3E}">
        <p14:creationId xmlns:p14="http://schemas.microsoft.com/office/powerpoint/2010/main" val="2499837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BDF7B5-B513-18CA-C294-929FAB13B7F4}"/>
              </a:ext>
            </a:extLst>
          </p:cNvPr>
          <p:cNvSpPr>
            <a:spLocks noGrp="1"/>
          </p:cNvSpPr>
          <p:nvPr>
            <p:ph type="title"/>
          </p:nvPr>
        </p:nvSpPr>
        <p:spPr/>
        <p:txBody>
          <a:bodyPr/>
          <a:lstStyle/>
          <a:p>
            <a:r>
              <a:rPr lang="en-US" dirty="0"/>
              <a:t>Impurity for regression</a:t>
            </a:r>
            <a:endParaRPr lang="ru-RU" dirty="0"/>
          </a:p>
        </p:txBody>
      </p:sp>
      <p:pic>
        <p:nvPicPr>
          <p:cNvPr id="5" name="Рисунок 4">
            <a:extLst>
              <a:ext uri="{FF2B5EF4-FFF2-40B4-BE49-F238E27FC236}">
                <a16:creationId xmlns:a16="http://schemas.microsoft.com/office/drawing/2014/main" id="{F5B0FDAA-CBA7-FF77-5433-88D7A29E6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81316"/>
            <a:ext cx="3735293" cy="949650"/>
          </a:xfrm>
          <a:prstGeom prst="rect">
            <a:avLst/>
          </a:prstGeom>
        </p:spPr>
      </p:pic>
      <p:pic>
        <p:nvPicPr>
          <p:cNvPr id="7" name="Рисунок 6">
            <a:extLst>
              <a:ext uri="{FF2B5EF4-FFF2-40B4-BE49-F238E27FC236}">
                <a16:creationId xmlns:a16="http://schemas.microsoft.com/office/drawing/2014/main" id="{47EF99C9-6BD5-D9C8-E481-132BB89539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2804" y="2541724"/>
            <a:ext cx="2501320" cy="547164"/>
          </a:xfrm>
          <a:prstGeom prst="rect">
            <a:avLst/>
          </a:prstGeom>
        </p:spPr>
      </p:pic>
      <p:pic>
        <p:nvPicPr>
          <p:cNvPr id="9" name="Рисунок 8">
            <a:extLst>
              <a:ext uri="{FF2B5EF4-FFF2-40B4-BE49-F238E27FC236}">
                <a16:creationId xmlns:a16="http://schemas.microsoft.com/office/drawing/2014/main" id="{6D785B4C-7005-92C2-0D43-93BD5ECEBD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052" y="3261392"/>
            <a:ext cx="6331004" cy="949650"/>
          </a:xfrm>
          <a:prstGeom prst="rect">
            <a:avLst/>
          </a:prstGeom>
        </p:spPr>
      </p:pic>
      <p:pic>
        <p:nvPicPr>
          <p:cNvPr id="11" name="Рисунок 10">
            <a:extLst>
              <a:ext uri="{FF2B5EF4-FFF2-40B4-BE49-F238E27FC236}">
                <a16:creationId xmlns:a16="http://schemas.microsoft.com/office/drawing/2014/main" id="{50CDF6E9-56DC-0946-27A2-F8858D007B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2804" y="4344177"/>
            <a:ext cx="4558323" cy="949650"/>
          </a:xfrm>
          <a:prstGeom prst="rect">
            <a:avLst/>
          </a:prstGeom>
        </p:spPr>
      </p:pic>
    </p:spTree>
    <p:extLst>
      <p:ext uri="{BB962C8B-B14F-4D97-AF65-F5344CB8AC3E}">
        <p14:creationId xmlns:p14="http://schemas.microsoft.com/office/powerpoint/2010/main" val="1600326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F8DAC1-A75C-5ED7-7D87-66567EF44188}"/>
              </a:ext>
            </a:extLst>
          </p:cNvPr>
          <p:cNvSpPr>
            <a:spLocks noGrp="1"/>
          </p:cNvSpPr>
          <p:nvPr>
            <p:ph type="title"/>
          </p:nvPr>
        </p:nvSpPr>
        <p:spPr/>
        <p:txBody>
          <a:bodyPr/>
          <a:lstStyle/>
          <a:p>
            <a:r>
              <a:rPr lang="en-US" dirty="0"/>
              <a:t>Impurity for classification</a:t>
            </a:r>
            <a:endParaRPr lang="ru-RU" dirty="0"/>
          </a:p>
        </p:txBody>
      </p:sp>
      <p:pic>
        <p:nvPicPr>
          <p:cNvPr id="5" name="Рисунок 4">
            <a:extLst>
              <a:ext uri="{FF2B5EF4-FFF2-40B4-BE49-F238E27FC236}">
                <a16:creationId xmlns:a16="http://schemas.microsoft.com/office/drawing/2014/main" id="{BF70E00B-C5D0-F336-283D-6417D5152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502" y="1408600"/>
            <a:ext cx="4217561" cy="1066973"/>
          </a:xfrm>
          <a:prstGeom prst="rect">
            <a:avLst/>
          </a:prstGeom>
        </p:spPr>
      </p:pic>
      <p:pic>
        <p:nvPicPr>
          <p:cNvPr id="7" name="Рисунок 6">
            <a:extLst>
              <a:ext uri="{FF2B5EF4-FFF2-40B4-BE49-F238E27FC236}">
                <a16:creationId xmlns:a16="http://schemas.microsoft.com/office/drawing/2014/main" id="{57B1C623-6FD2-BF16-FF32-2A1441163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502" y="2567428"/>
            <a:ext cx="2396986" cy="543761"/>
          </a:xfrm>
          <a:prstGeom prst="rect">
            <a:avLst/>
          </a:prstGeom>
        </p:spPr>
      </p:pic>
      <p:pic>
        <p:nvPicPr>
          <p:cNvPr id="4" name="Рисунок 3">
            <a:extLst>
              <a:ext uri="{FF2B5EF4-FFF2-40B4-BE49-F238E27FC236}">
                <a16:creationId xmlns:a16="http://schemas.microsoft.com/office/drawing/2014/main" id="{9C7B1AC6-924C-D739-957A-D0A90C2A0B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7395" y="151841"/>
            <a:ext cx="3016405" cy="3098959"/>
          </a:xfrm>
          <a:prstGeom prst="rect">
            <a:avLst/>
          </a:prstGeom>
        </p:spPr>
      </p:pic>
      <p:pic>
        <p:nvPicPr>
          <p:cNvPr id="6" name="Рисунок 5">
            <a:extLst>
              <a:ext uri="{FF2B5EF4-FFF2-40B4-BE49-F238E27FC236}">
                <a16:creationId xmlns:a16="http://schemas.microsoft.com/office/drawing/2014/main" id="{4E5095B2-15F0-AA81-EE07-DD49B12480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0502" y="3269506"/>
            <a:ext cx="8880092" cy="1238693"/>
          </a:xfrm>
          <a:prstGeom prst="rect">
            <a:avLst/>
          </a:prstGeom>
        </p:spPr>
      </p:pic>
      <p:pic>
        <p:nvPicPr>
          <p:cNvPr id="10" name="Рисунок 9">
            <a:extLst>
              <a:ext uri="{FF2B5EF4-FFF2-40B4-BE49-F238E27FC236}">
                <a16:creationId xmlns:a16="http://schemas.microsoft.com/office/drawing/2014/main" id="{E2B52A21-33B1-9A5D-3FD7-88F91075B7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0099" y="4421090"/>
            <a:ext cx="4735156" cy="996411"/>
          </a:xfrm>
          <a:prstGeom prst="rect">
            <a:avLst/>
          </a:prstGeom>
        </p:spPr>
      </p:pic>
    </p:spTree>
    <p:extLst>
      <p:ext uri="{BB962C8B-B14F-4D97-AF65-F5344CB8AC3E}">
        <p14:creationId xmlns:p14="http://schemas.microsoft.com/office/powerpoint/2010/main" val="3068100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6FDC9-F232-8C8D-741C-31F3D113BDBC}"/>
              </a:ext>
            </a:extLst>
          </p:cNvPr>
          <p:cNvSpPr>
            <a:spLocks noGrp="1"/>
          </p:cNvSpPr>
          <p:nvPr>
            <p:ph type="title"/>
          </p:nvPr>
        </p:nvSpPr>
        <p:spPr/>
        <p:txBody>
          <a:bodyPr/>
          <a:lstStyle/>
          <a:p>
            <a:r>
              <a:rPr lang="en-US" dirty="0"/>
              <a:t>Impurity for classification: Gini index</a:t>
            </a:r>
            <a:endParaRPr lang="ru-RU" dirty="0"/>
          </a:p>
        </p:txBody>
      </p:sp>
      <p:pic>
        <p:nvPicPr>
          <p:cNvPr id="5" name="Рисунок 4">
            <a:extLst>
              <a:ext uri="{FF2B5EF4-FFF2-40B4-BE49-F238E27FC236}">
                <a16:creationId xmlns:a16="http://schemas.microsoft.com/office/drawing/2014/main" id="{CC72B772-9AD0-FA77-1304-9CF44D9D2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955" y="2734469"/>
            <a:ext cx="4871380" cy="823912"/>
          </a:xfrm>
          <a:prstGeom prst="rect">
            <a:avLst/>
          </a:prstGeom>
        </p:spPr>
      </p:pic>
      <p:pic>
        <p:nvPicPr>
          <p:cNvPr id="9" name="Рисунок 8">
            <a:extLst>
              <a:ext uri="{FF2B5EF4-FFF2-40B4-BE49-F238E27FC236}">
                <a16:creationId xmlns:a16="http://schemas.microsoft.com/office/drawing/2014/main" id="{CFEF407E-D510-C4E8-59E1-BAB7421701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954" y="4676007"/>
            <a:ext cx="4024261" cy="1074661"/>
          </a:xfrm>
          <a:prstGeom prst="rect">
            <a:avLst/>
          </a:prstGeom>
        </p:spPr>
      </p:pic>
      <p:pic>
        <p:nvPicPr>
          <p:cNvPr id="11" name="Рисунок 10">
            <a:extLst>
              <a:ext uri="{FF2B5EF4-FFF2-40B4-BE49-F238E27FC236}">
                <a16:creationId xmlns:a16="http://schemas.microsoft.com/office/drawing/2014/main" id="{44648F8E-95E3-D281-3525-0B0060A07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954" y="5741855"/>
            <a:ext cx="3015306" cy="1074660"/>
          </a:xfrm>
          <a:prstGeom prst="rect">
            <a:avLst/>
          </a:prstGeom>
        </p:spPr>
      </p:pic>
      <p:sp>
        <p:nvSpPr>
          <p:cNvPr id="3" name="TextBox 2">
            <a:extLst>
              <a:ext uri="{FF2B5EF4-FFF2-40B4-BE49-F238E27FC236}">
                <a16:creationId xmlns:a16="http://schemas.microsoft.com/office/drawing/2014/main" id="{99062767-AAC1-CEC5-5D53-B0DE534C93DA}"/>
              </a:ext>
            </a:extLst>
          </p:cNvPr>
          <p:cNvSpPr txBox="1"/>
          <p:nvPr/>
        </p:nvSpPr>
        <p:spPr>
          <a:xfrm>
            <a:off x="838199" y="1434534"/>
            <a:ext cx="11137135" cy="954107"/>
          </a:xfrm>
          <a:prstGeom prst="rect">
            <a:avLst/>
          </a:prstGeom>
          <a:noFill/>
        </p:spPr>
        <p:txBody>
          <a:bodyPr wrap="square" rtlCol="0">
            <a:spAutoFit/>
          </a:bodyPr>
          <a:lstStyle/>
          <a:p>
            <a:r>
              <a:rPr lang="en-US" sz="2800" dirty="0"/>
              <a:t>From Logistic Regression discussion we have two loss functions that allow to learn probabilities: quadratic loss and logistic loss. Let’s try both of them.</a:t>
            </a:r>
            <a:endParaRPr lang="ru-RU" sz="2800" dirty="0"/>
          </a:p>
        </p:txBody>
      </p:sp>
      <p:pic>
        <p:nvPicPr>
          <p:cNvPr id="7" name="Рисунок 6">
            <a:extLst>
              <a:ext uri="{FF2B5EF4-FFF2-40B4-BE49-F238E27FC236}">
                <a16:creationId xmlns:a16="http://schemas.microsoft.com/office/drawing/2014/main" id="{CAD64BFF-E26A-60E7-25C4-DDC3E4A9D0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3955" y="3328980"/>
            <a:ext cx="5703539" cy="1288274"/>
          </a:xfrm>
          <a:prstGeom prst="rect">
            <a:avLst/>
          </a:prstGeom>
        </p:spPr>
      </p:pic>
      <p:pic>
        <p:nvPicPr>
          <p:cNvPr id="4" name="Рисунок 3">
            <a:extLst>
              <a:ext uri="{FF2B5EF4-FFF2-40B4-BE49-F238E27FC236}">
                <a16:creationId xmlns:a16="http://schemas.microsoft.com/office/drawing/2014/main" id="{BB6228A8-146D-4402-60E3-804BF55B55D8}"/>
              </a:ext>
            </a:extLst>
          </p:cNvPr>
          <p:cNvPicPr>
            <a:picLocks noChangeAspect="1"/>
          </p:cNvPicPr>
          <p:nvPr/>
        </p:nvPicPr>
        <p:blipFill>
          <a:blip r:embed="rId6">
            <a:extLst>
              <a:ext uri="{28A0092B-C50C-407E-A947-70E740481C1C}">
                <a14:useLocalDpi xmlns:a14="http://schemas.microsoft.com/office/drawing/2010/main" val="0"/>
              </a:ext>
            </a:extLst>
          </a:blip>
          <a:srcRect r="58650"/>
          <a:stretch/>
        </p:blipFill>
        <p:spPr>
          <a:xfrm>
            <a:off x="8072991" y="2760097"/>
            <a:ext cx="1247280" cy="3098959"/>
          </a:xfrm>
          <a:prstGeom prst="rect">
            <a:avLst/>
          </a:prstGeom>
        </p:spPr>
      </p:pic>
      <p:pic>
        <p:nvPicPr>
          <p:cNvPr id="8" name="Рисунок 7">
            <a:extLst>
              <a:ext uri="{FF2B5EF4-FFF2-40B4-BE49-F238E27FC236}">
                <a16:creationId xmlns:a16="http://schemas.microsoft.com/office/drawing/2014/main" id="{45716A07-51FD-34AE-06EE-31F4C3F3E8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25852" y="2946774"/>
            <a:ext cx="1386011" cy="438158"/>
          </a:xfrm>
          <a:prstGeom prst="rect">
            <a:avLst/>
          </a:prstGeom>
        </p:spPr>
      </p:pic>
      <p:pic>
        <p:nvPicPr>
          <p:cNvPr id="12" name="Рисунок 11">
            <a:extLst>
              <a:ext uri="{FF2B5EF4-FFF2-40B4-BE49-F238E27FC236}">
                <a16:creationId xmlns:a16="http://schemas.microsoft.com/office/drawing/2014/main" id="{2134D299-2700-589F-9828-6B81B74C56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81784" y="3883735"/>
            <a:ext cx="1430079" cy="760875"/>
          </a:xfrm>
          <a:prstGeom prst="rect">
            <a:avLst/>
          </a:prstGeom>
        </p:spPr>
      </p:pic>
      <p:pic>
        <p:nvPicPr>
          <p:cNvPr id="14" name="Рисунок 13">
            <a:extLst>
              <a:ext uri="{FF2B5EF4-FFF2-40B4-BE49-F238E27FC236}">
                <a16:creationId xmlns:a16="http://schemas.microsoft.com/office/drawing/2014/main" id="{989D3A7E-7FDE-0C04-4C7C-9ECF38D19E7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58676" y="4906125"/>
            <a:ext cx="1402578" cy="760875"/>
          </a:xfrm>
          <a:prstGeom prst="rect">
            <a:avLst/>
          </a:prstGeom>
        </p:spPr>
      </p:pic>
    </p:spTree>
    <p:extLst>
      <p:ext uri="{BB962C8B-B14F-4D97-AF65-F5344CB8AC3E}">
        <p14:creationId xmlns:p14="http://schemas.microsoft.com/office/powerpoint/2010/main" val="902875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D93918-1F02-79A1-C0D9-4CA9EA3E92D7}"/>
              </a:ext>
            </a:extLst>
          </p:cNvPr>
          <p:cNvSpPr>
            <a:spLocks noGrp="1"/>
          </p:cNvSpPr>
          <p:nvPr>
            <p:ph type="title"/>
          </p:nvPr>
        </p:nvSpPr>
        <p:spPr/>
        <p:txBody>
          <a:bodyPr/>
          <a:lstStyle/>
          <a:p>
            <a:r>
              <a:rPr lang="en-US" dirty="0"/>
              <a:t>Impurity for classification: Entropy criterion</a:t>
            </a:r>
            <a:endParaRPr lang="ru-RU" dirty="0"/>
          </a:p>
        </p:txBody>
      </p:sp>
      <p:pic>
        <p:nvPicPr>
          <p:cNvPr id="4" name="Рисунок 3">
            <a:extLst>
              <a:ext uri="{FF2B5EF4-FFF2-40B4-BE49-F238E27FC236}">
                <a16:creationId xmlns:a16="http://schemas.microsoft.com/office/drawing/2014/main" id="{7CD60E28-C68C-8581-12B4-E3A2F912B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955" y="1456513"/>
            <a:ext cx="4871380" cy="823912"/>
          </a:xfrm>
          <a:prstGeom prst="rect">
            <a:avLst/>
          </a:prstGeom>
        </p:spPr>
      </p:pic>
      <p:pic>
        <p:nvPicPr>
          <p:cNvPr id="6" name="Рисунок 5">
            <a:extLst>
              <a:ext uri="{FF2B5EF4-FFF2-40B4-BE49-F238E27FC236}">
                <a16:creationId xmlns:a16="http://schemas.microsoft.com/office/drawing/2014/main" id="{7C03E002-3FEA-5F02-14B1-B5F16DA63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954" y="2297370"/>
            <a:ext cx="7889009" cy="1159511"/>
          </a:xfrm>
          <a:prstGeom prst="rect">
            <a:avLst/>
          </a:prstGeom>
        </p:spPr>
      </p:pic>
      <p:sp>
        <p:nvSpPr>
          <p:cNvPr id="7" name="TextBox 6">
            <a:extLst>
              <a:ext uri="{FF2B5EF4-FFF2-40B4-BE49-F238E27FC236}">
                <a16:creationId xmlns:a16="http://schemas.microsoft.com/office/drawing/2014/main" id="{FB467E93-3007-B55B-A7C0-B9C3B1B8EFFC}"/>
              </a:ext>
            </a:extLst>
          </p:cNvPr>
          <p:cNvSpPr txBox="1"/>
          <p:nvPr/>
        </p:nvSpPr>
        <p:spPr>
          <a:xfrm>
            <a:off x="905106" y="4789738"/>
            <a:ext cx="10418686" cy="523220"/>
          </a:xfrm>
          <a:prstGeom prst="rect">
            <a:avLst/>
          </a:prstGeom>
          <a:noFill/>
        </p:spPr>
        <p:txBody>
          <a:bodyPr wrap="none" rtlCol="0">
            <a:spAutoFit/>
          </a:bodyPr>
          <a:lstStyle/>
          <a:p>
            <a:r>
              <a:rPr lang="en-US" sz="2800" dirty="0"/>
              <a:t>Gini index and entropy criterion show in practice similar performance</a:t>
            </a:r>
            <a:endParaRPr lang="ru-RU" sz="2800" dirty="0"/>
          </a:p>
        </p:txBody>
      </p:sp>
      <p:pic>
        <p:nvPicPr>
          <p:cNvPr id="3" name="Рисунок 2">
            <a:extLst>
              <a:ext uri="{FF2B5EF4-FFF2-40B4-BE49-F238E27FC236}">
                <a16:creationId xmlns:a16="http://schemas.microsoft.com/office/drawing/2014/main" id="{3971DC3A-8335-8A14-AEBF-677C540BA8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954" y="3486187"/>
            <a:ext cx="4024261" cy="1074661"/>
          </a:xfrm>
          <a:prstGeom prst="rect">
            <a:avLst/>
          </a:prstGeom>
        </p:spPr>
      </p:pic>
    </p:spTree>
    <p:extLst>
      <p:ext uri="{BB962C8B-B14F-4D97-AF65-F5344CB8AC3E}">
        <p14:creationId xmlns:p14="http://schemas.microsoft.com/office/powerpoint/2010/main" val="2895848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C47B51-6115-E25B-B911-1CCFC927290E}"/>
              </a:ext>
            </a:extLst>
          </p:cNvPr>
          <p:cNvSpPr>
            <a:spLocks noGrp="1"/>
          </p:cNvSpPr>
          <p:nvPr>
            <p:ph type="title"/>
          </p:nvPr>
        </p:nvSpPr>
        <p:spPr/>
        <p:txBody>
          <a:bodyPr/>
          <a:lstStyle/>
          <a:p>
            <a:r>
              <a:rPr lang="en-US" dirty="0"/>
              <a:t>Recap: constrained minimization</a:t>
            </a:r>
            <a:endParaRPr lang="ru-RU" dirty="0"/>
          </a:p>
        </p:txBody>
      </p:sp>
      <p:pic>
        <p:nvPicPr>
          <p:cNvPr id="5" name="Рисунок 4">
            <a:extLst>
              <a:ext uri="{FF2B5EF4-FFF2-40B4-BE49-F238E27FC236}">
                <a16:creationId xmlns:a16="http://schemas.microsoft.com/office/drawing/2014/main" id="{C3C749DF-95C2-77A0-08C2-053016EBD3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0141" y="2267273"/>
            <a:ext cx="1712165" cy="1015353"/>
          </a:xfrm>
          <a:prstGeom prst="rect">
            <a:avLst/>
          </a:prstGeom>
        </p:spPr>
      </p:pic>
      <p:sp>
        <p:nvSpPr>
          <p:cNvPr id="6" name="TextBox 5">
            <a:extLst>
              <a:ext uri="{FF2B5EF4-FFF2-40B4-BE49-F238E27FC236}">
                <a16:creationId xmlns:a16="http://schemas.microsoft.com/office/drawing/2014/main" id="{2A2D28A2-D4C8-A59D-ABDA-1090D5F18011}"/>
              </a:ext>
            </a:extLst>
          </p:cNvPr>
          <p:cNvSpPr txBox="1"/>
          <p:nvPr/>
        </p:nvSpPr>
        <p:spPr>
          <a:xfrm>
            <a:off x="838200" y="1584251"/>
            <a:ext cx="9906238" cy="523220"/>
          </a:xfrm>
          <a:prstGeom prst="rect">
            <a:avLst/>
          </a:prstGeom>
          <a:noFill/>
        </p:spPr>
        <p:txBody>
          <a:bodyPr wrap="none" rtlCol="0">
            <a:spAutoFit/>
          </a:bodyPr>
          <a:lstStyle/>
          <a:p>
            <a:r>
              <a:rPr lang="en-US" sz="2800" dirty="0"/>
              <a:t>Let’s consider optimization problem with some equality constraint:</a:t>
            </a:r>
            <a:endParaRPr lang="ru-RU" sz="2800" dirty="0"/>
          </a:p>
        </p:txBody>
      </p:sp>
      <p:sp>
        <p:nvSpPr>
          <p:cNvPr id="7" name="TextBox 6">
            <a:extLst>
              <a:ext uri="{FF2B5EF4-FFF2-40B4-BE49-F238E27FC236}">
                <a16:creationId xmlns:a16="http://schemas.microsoft.com/office/drawing/2014/main" id="{69A14B47-ED3A-5073-9C7A-E8D7C75E566D}"/>
              </a:ext>
            </a:extLst>
          </p:cNvPr>
          <p:cNvSpPr txBox="1"/>
          <p:nvPr/>
        </p:nvSpPr>
        <p:spPr>
          <a:xfrm>
            <a:off x="838200" y="3530010"/>
            <a:ext cx="2894639" cy="523220"/>
          </a:xfrm>
          <a:prstGeom prst="rect">
            <a:avLst/>
          </a:prstGeom>
          <a:noFill/>
        </p:spPr>
        <p:txBody>
          <a:bodyPr wrap="none" rtlCol="0">
            <a:spAutoFit/>
          </a:bodyPr>
          <a:lstStyle/>
          <a:p>
            <a:r>
              <a:rPr lang="en-US" sz="2800" dirty="0"/>
              <a:t>Lagrange function:</a:t>
            </a:r>
            <a:endParaRPr lang="ru-RU" sz="2800" dirty="0"/>
          </a:p>
        </p:txBody>
      </p:sp>
      <p:pic>
        <p:nvPicPr>
          <p:cNvPr id="9" name="Рисунок 8">
            <a:extLst>
              <a:ext uri="{FF2B5EF4-FFF2-40B4-BE49-F238E27FC236}">
                <a16:creationId xmlns:a16="http://schemas.microsoft.com/office/drawing/2014/main" id="{EAEF64C2-711B-6439-A915-6776FCFF11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8335" y="3575375"/>
            <a:ext cx="3159443" cy="523220"/>
          </a:xfrm>
          <a:prstGeom prst="rect">
            <a:avLst/>
          </a:prstGeom>
        </p:spPr>
      </p:pic>
      <p:pic>
        <p:nvPicPr>
          <p:cNvPr id="11" name="Рисунок 10">
            <a:extLst>
              <a:ext uri="{FF2B5EF4-FFF2-40B4-BE49-F238E27FC236}">
                <a16:creationId xmlns:a16="http://schemas.microsoft.com/office/drawing/2014/main" id="{13638DF3-FFA3-B489-44FE-93EF97BBCF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0837" y="5273749"/>
            <a:ext cx="2081743" cy="836588"/>
          </a:xfrm>
          <a:prstGeom prst="rect">
            <a:avLst/>
          </a:prstGeom>
        </p:spPr>
      </p:pic>
      <p:sp>
        <p:nvSpPr>
          <p:cNvPr id="12" name="TextBox 11">
            <a:extLst>
              <a:ext uri="{FF2B5EF4-FFF2-40B4-BE49-F238E27FC236}">
                <a16:creationId xmlns:a16="http://schemas.microsoft.com/office/drawing/2014/main" id="{3FAD36E9-43D9-62B0-5C19-D0A8281A8D1F}"/>
              </a:ext>
            </a:extLst>
          </p:cNvPr>
          <p:cNvSpPr txBox="1"/>
          <p:nvPr/>
        </p:nvSpPr>
        <p:spPr>
          <a:xfrm>
            <a:off x="850602" y="4582633"/>
            <a:ext cx="6223499" cy="523220"/>
          </a:xfrm>
          <a:prstGeom prst="rect">
            <a:avLst/>
          </a:prstGeom>
          <a:noFill/>
        </p:spPr>
        <p:txBody>
          <a:bodyPr wrap="none" rtlCol="0">
            <a:spAutoFit/>
          </a:bodyPr>
          <a:lstStyle/>
          <a:p>
            <a:r>
              <a:rPr lang="en-US" sz="2800" dirty="0"/>
              <a:t>If       is a local constrained minimum then</a:t>
            </a:r>
            <a:endParaRPr lang="ru-RU" sz="2800" dirty="0"/>
          </a:p>
        </p:txBody>
      </p:sp>
      <p:pic>
        <p:nvPicPr>
          <p:cNvPr id="14" name="Рисунок 13">
            <a:extLst>
              <a:ext uri="{FF2B5EF4-FFF2-40B4-BE49-F238E27FC236}">
                <a16:creationId xmlns:a16="http://schemas.microsoft.com/office/drawing/2014/main" id="{152C5D15-41DC-92ED-638E-44DFF4E9D1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7672" y="4682090"/>
            <a:ext cx="482355" cy="348366"/>
          </a:xfrm>
          <a:prstGeom prst="rect">
            <a:avLst/>
          </a:prstGeom>
        </p:spPr>
      </p:pic>
      <p:pic>
        <p:nvPicPr>
          <p:cNvPr id="16" name="Рисунок 15">
            <a:extLst>
              <a:ext uri="{FF2B5EF4-FFF2-40B4-BE49-F238E27FC236}">
                <a16:creationId xmlns:a16="http://schemas.microsoft.com/office/drawing/2014/main" id="{626B0659-FC6D-6244-4972-EE63FA0365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62196" y="4576145"/>
            <a:ext cx="1037476" cy="578802"/>
          </a:xfrm>
          <a:prstGeom prst="rect">
            <a:avLst/>
          </a:prstGeom>
        </p:spPr>
      </p:pic>
    </p:spTree>
    <p:extLst>
      <p:ext uri="{BB962C8B-B14F-4D97-AF65-F5344CB8AC3E}">
        <p14:creationId xmlns:p14="http://schemas.microsoft.com/office/powerpoint/2010/main" val="4886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D9F258-64D3-C72D-A0B1-4305742D3C15}"/>
              </a:ext>
            </a:extLst>
          </p:cNvPr>
          <p:cNvSpPr>
            <a:spLocks noGrp="1"/>
          </p:cNvSpPr>
          <p:nvPr>
            <p:ph type="title"/>
          </p:nvPr>
        </p:nvSpPr>
        <p:spPr/>
        <p:txBody>
          <a:bodyPr/>
          <a:lstStyle/>
          <a:p>
            <a:r>
              <a:rPr lang="en-US" dirty="0"/>
              <a:t>Minimizing Entropy criterion</a:t>
            </a:r>
            <a:endParaRPr lang="ru-RU" dirty="0"/>
          </a:p>
        </p:txBody>
      </p:sp>
      <p:pic>
        <p:nvPicPr>
          <p:cNvPr id="7" name="Рисунок 6">
            <a:extLst>
              <a:ext uri="{FF2B5EF4-FFF2-40B4-BE49-F238E27FC236}">
                <a16:creationId xmlns:a16="http://schemas.microsoft.com/office/drawing/2014/main" id="{2E8A71B8-0586-2C59-46C6-42D9D3086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043" y="1456479"/>
            <a:ext cx="4565875" cy="1722656"/>
          </a:xfrm>
          <a:prstGeom prst="rect">
            <a:avLst/>
          </a:prstGeom>
        </p:spPr>
      </p:pic>
      <p:pic>
        <p:nvPicPr>
          <p:cNvPr id="9" name="Рисунок 8">
            <a:extLst>
              <a:ext uri="{FF2B5EF4-FFF2-40B4-BE49-F238E27FC236}">
                <a16:creationId xmlns:a16="http://schemas.microsoft.com/office/drawing/2014/main" id="{58FC3ED9-7D9E-BAC7-9E49-17E47F35C8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043" y="3302055"/>
            <a:ext cx="5956104" cy="960955"/>
          </a:xfrm>
          <a:prstGeom prst="rect">
            <a:avLst/>
          </a:prstGeom>
        </p:spPr>
      </p:pic>
      <p:pic>
        <p:nvPicPr>
          <p:cNvPr id="13" name="Рисунок 12">
            <a:extLst>
              <a:ext uri="{FF2B5EF4-FFF2-40B4-BE49-F238E27FC236}">
                <a16:creationId xmlns:a16="http://schemas.microsoft.com/office/drawing/2014/main" id="{DC340B89-AC37-40E5-B47A-11D5137B94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043" y="4270489"/>
            <a:ext cx="7171153" cy="865037"/>
          </a:xfrm>
          <a:prstGeom prst="rect">
            <a:avLst/>
          </a:prstGeom>
        </p:spPr>
      </p:pic>
      <p:pic>
        <p:nvPicPr>
          <p:cNvPr id="15" name="Рисунок 14">
            <a:extLst>
              <a:ext uri="{FF2B5EF4-FFF2-40B4-BE49-F238E27FC236}">
                <a16:creationId xmlns:a16="http://schemas.microsoft.com/office/drawing/2014/main" id="{B93FC304-8A4B-E36B-DB18-877C511C6F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8042" y="5332409"/>
            <a:ext cx="3152733" cy="1057758"/>
          </a:xfrm>
          <a:prstGeom prst="rect">
            <a:avLst/>
          </a:prstGeom>
        </p:spPr>
      </p:pic>
      <p:pic>
        <p:nvPicPr>
          <p:cNvPr id="17" name="Рисунок 16">
            <a:extLst>
              <a:ext uri="{FF2B5EF4-FFF2-40B4-BE49-F238E27FC236}">
                <a16:creationId xmlns:a16="http://schemas.microsoft.com/office/drawing/2014/main" id="{E211A193-542F-7054-4F75-0DBC02A561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5227" y="5441858"/>
            <a:ext cx="3793238" cy="948309"/>
          </a:xfrm>
          <a:prstGeom prst="rect">
            <a:avLst/>
          </a:prstGeom>
        </p:spPr>
      </p:pic>
      <p:pic>
        <p:nvPicPr>
          <p:cNvPr id="19" name="Рисунок 18">
            <a:extLst>
              <a:ext uri="{FF2B5EF4-FFF2-40B4-BE49-F238E27FC236}">
                <a16:creationId xmlns:a16="http://schemas.microsoft.com/office/drawing/2014/main" id="{8357FEE1-BA4D-D341-48F9-F5D1DFD7DA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23482" y="5420273"/>
            <a:ext cx="2899118" cy="948309"/>
          </a:xfrm>
          <a:prstGeom prst="rect">
            <a:avLst/>
          </a:prstGeom>
        </p:spPr>
      </p:pic>
    </p:spTree>
    <p:extLst>
      <p:ext uri="{BB962C8B-B14F-4D97-AF65-F5344CB8AC3E}">
        <p14:creationId xmlns:p14="http://schemas.microsoft.com/office/powerpoint/2010/main" val="1349253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473B7D-D6D7-221D-4C38-8927FBDCA54D}"/>
              </a:ext>
            </a:extLst>
          </p:cNvPr>
          <p:cNvSpPr>
            <a:spLocks noGrp="1"/>
          </p:cNvSpPr>
          <p:nvPr>
            <p:ph type="title"/>
          </p:nvPr>
        </p:nvSpPr>
        <p:spPr/>
        <p:txBody>
          <a:bodyPr/>
          <a:lstStyle/>
          <a:p>
            <a:r>
              <a:rPr lang="en-US" dirty="0"/>
              <a:t>Pruning for decision trees</a:t>
            </a:r>
            <a:endParaRPr lang="ru-RU" dirty="0"/>
          </a:p>
        </p:txBody>
      </p:sp>
      <p:sp>
        <p:nvSpPr>
          <p:cNvPr id="4" name="TextBox 3">
            <a:extLst>
              <a:ext uri="{FF2B5EF4-FFF2-40B4-BE49-F238E27FC236}">
                <a16:creationId xmlns:a16="http://schemas.microsoft.com/office/drawing/2014/main" id="{565D3335-0F17-C0DC-366E-619C9C69F9C5}"/>
              </a:ext>
            </a:extLst>
          </p:cNvPr>
          <p:cNvSpPr txBox="1"/>
          <p:nvPr/>
        </p:nvSpPr>
        <p:spPr>
          <a:xfrm>
            <a:off x="838200" y="1690688"/>
            <a:ext cx="9900684" cy="954107"/>
          </a:xfrm>
          <a:prstGeom prst="rect">
            <a:avLst/>
          </a:prstGeom>
          <a:noFill/>
        </p:spPr>
        <p:txBody>
          <a:bodyPr wrap="square" rtlCol="0">
            <a:spAutoFit/>
          </a:bodyPr>
          <a:lstStyle/>
          <a:p>
            <a:r>
              <a:rPr lang="en-US" sz="2800" dirty="0"/>
              <a:t>In order to control overfitting in decision trees Pre-pruning and Post-pruning methods are used</a:t>
            </a:r>
          </a:p>
        </p:txBody>
      </p:sp>
      <p:sp>
        <p:nvSpPr>
          <p:cNvPr id="11" name="TextBox 10">
            <a:extLst>
              <a:ext uri="{FF2B5EF4-FFF2-40B4-BE49-F238E27FC236}">
                <a16:creationId xmlns:a16="http://schemas.microsoft.com/office/drawing/2014/main" id="{0834333C-3DB4-B56E-33C6-5FAF5ED50467}"/>
              </a:ext>
            </a:extLst>
          </p:cNvPr>
          <p:cNvSpPr txBox="1"/>
          <p:nvPr/>
        </p:nvSpPr>
        <p:spPr>
          <a:xfrm>
            <a:off x="838199" y="2985191"/>
            <a:ext cx="10539553" cy="1384995"/>
          </a:xfrm>
          <a:prstGeom prst="rect">
            <a:avLst/>
          </a:prstGeom>
          <a:noFill/>
        </p:spPr>
        <p:txBody>
          <a:bodyPr wrap="square">
            <a:spAutoFit/>
          </a:bodyPr>
          <a:lstStyle/>
          <a:p>
            <a:r>
              <a:rPr lang="en-US" sz="2800" dirty="0"/>
              <a:t>Pre-pruning: find hyperparameters like maximal tree depth, minimal number of samples in each leaf, minimal number of samples in internal node using cross-validation, e.g. using </a:t>
            </a:r>
            <a:r>
              <a:rPr lang="en-US" sz="2800" dirty="0" err="1"/>
              <a:t>Optuna</a:t>
            </a:r>
            <a:endParaRPr lang="ru-RU" sz="2800" dirty="0"/>
          </a:p>
        </p:txBody>
      </p:sp>
      <p:sp>
        <p:nvSpPr>
          <p:cNvPr id="13" name="TextBox 12">
            <a:extLst>
              <a:ext uri="{FF2B5EF4-FFF2-40B4-BE49-F238E27FC236}">
                <a16:creationId xmlns:a16="http://schemas.microsoft.com/office/drawing/2014/main" id="{AC1C8F01-A21B-696D-D9BC-0441048C7F54}"/>
              </a:ext>
            </a:extLst>
          </p:cNvPr>
          <p:cNvSpPr txBox="1"/>
          <p:nvPr/>
        </p:nvSpPr>
        <p:spPr>
          <a:xfrm>
            <a:off x="838198" y="4858864"/>
            <a:ext cx="10166499" cy="954107"/>
          </a:xfrm>
          <a:prstGeom prst="rect">
            <a:avLst/>
          </a:prstGeom>
          <a:noFill/>
        </p:spPr>
        <p:txBody>
          <a:bodyPr wrap="square">
            <a:spAutoFit/>
          </a:bodyPr>
          <a:lstStyle/>
          <a:p>
            <a:r>
              <a:rPr lang="en-US" sz="2800" dirty="0"/>
              <a:t>Post-pruning: first construct full tree and then simplify it by pruning some of its subtrees</a:t>
            </a:r>
            <a:endParaRPr lang="ru-RU" sz="2800" dirty="0"/>
          </a:p>
        </p:txBody>
      </p:sp>
    </p:spTree>
    <p:extLst>
      <p:ext uri="{BB962C8B-B14F-4D97-AF65-F5344CB8AC3E}">
        <p14:creationId xmlns:p14="http://schemas.microsoft.com/office/powerpoint/2010/main" val="775181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5872-2F4C-5D2B-80DD-38876422215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092375-A599-92C4-A5D9-E8BABB03866F}"/>
              </a:ext>
            </a:extLst>
          </p:cNvPr>
          <p:cNvSpPr>
            <a:spLocks noGrp="1"/>
          </p:cNvSpPr>
          <p:nvPr>
            <p:ph type="title"/>
          </p:nvPr>
        </p:nvSpPr>
        <p:spPr/>
        <p:txBody>
          <a:bodyPr/>
          <a:lstStyle/>
          <a:p>
            <a:r>
              <a:rPr lang="en-US" dirty="0"/>
              <a:t>Cost Complexity Pruning</a:t>
            </a:r>
            <a:endParaRPr lang="ru-RU" dirty="0"/>
          </a:p>
        </p:txBody>
      </p:sp>
      <p:sp>
        <p:nvSpPr>
          <p:cNvPr id="4" name="TextBox 3">
            <a:extLst>
              <a:ext uri="{FF2B5EF4-FFF2-40B4-BE49-F238E27FC236}">
                <a16:creationId xmlns:a16="http://schemas.microsoft.com/office/drawing/2014/main" id="{82CAEB05-D4A3-6DE5-03C4-8B6C36C3EAB5}"/>
              </a:ext>
            </a:extLst>
          </p:cNvPr>
          <p:cNvSpPr txBox="1"/>
          <p:nvPr/>
        </p:nvSpPr>
        <p:spPr>
          <a:xfrm>
            <a:off x="838200" y="1690688"/>
            <a:ext cx="8986284" cy="523220"/>
          </a:xfrm>
          <a:prstGeom prst="rect">
            <a:avLst/>
          </a:prstGeom>
          <a:noFill/>
        </p:spPr>
        <p:txBody>
          <a:bodyPr wrap="square" rtlCol="0">
            <a:spAutoFit/>
          </a:bodyPr>
          <a:lstStyle/>
          <a:p>
            <a:r>
              <a:rPr lang="en-US" sz="2800" dirty="0"/>
              <a:t>Solves the problem of balancing DT quality and simplicity:</a:t>
            </a:r>
          </a:p>
        </p:txBody>
      </p:sp>
      <p:pic>
        <p:nvPicPr>
          <p:cNvPr id="7" name="Рисунок 6">
            <a:extLst>
              <a:ext uri="{FF2B5EF4-FFF2-40B4-BE49-F238E27FC236}">
                <a16:creationId xmlns:a16="http://schemas.microsoft.com/office/drawing/2014/main" id="{78F5E49E-137B-A1F5-348D-3A9015D7E3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7120" y="2408159"/>
            <a:ext cx="4236494" cy="669498"/>
          </a:xfrm>
          <a:prstGeom prst="rect">
            <a:avLst/>
          </a:prstGeom>
        </p:spPr>
      </p:pic>
      <p:pic>
        <p:nvPicPr>
          <p:cNvPr id="10" name="Рисунок 9">
            <a:extLst>
              <a:ext uri="{FF2B5EF4-FFF2-40B4-BE49-F238E27FC236}">
                <a16:creationId xmlns:a16="http://schemas.microsoft.com/office/drawing/2014/main" id="{3954A7B2-CD11-CD46-8131-6E74CF2FF8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0234" y="3202635"/>
            <a:ext cx="701319" cy="440573"/>
          </a:xfrm>
          <a:prstGeom prst="rect">
            <a:avLst/>
          </a:prstGeom>
        </p:spPr>
      </p:pic>
      <p:pic>
        <p:nvPicPr>
          <p:cNvPr id="13" name="Рисунок 12">
            <a:extLst>
              <a:ext uri="{FF2B5EF4-FFF2-40B4-BE49-F238E27FC236}">
                <a16:creationId xmlns:a16="http://schemas.microsoft.com/office/drawing/2014/main" id="{8EBE8C7A-368E-A114-BCCA-78E83735C3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5022" y="4184705"/>
            <a:ext cx="514508" cy="431819"/>
          </a:xfrm>
          <a:prstGeom prst="rect">
            <a:avLst/>
          </a:prstGeom>
        </p:spPr>
      </p:pic>
      <p:sp>
        <p:nvSpPr>
          <p:cNvPr id="14" name="TextBox 13">
            <a:extLst>
              <a:ext uri="{FF2B5EF4-FFF2-40B4-BE49-F238E27FC236}">
                <a16:creationId xmlns:a16="http://schemas.microsoft.com/office/drawing/2014/main" id="{433655FB-9EA3-E237-6652-9A5C1B266886}"/>
              </a:ext>
            </a:extLst>
          </p:cNvPr>
          <p:cNvSpPr txBox="1"/>
          <p:nvPr/>
        </p:nvSpPr>
        <p:spPr>
          <a:xfrm>
            <a:off x="2776213" y="3119988"/>
            <a:ext cx="8834762" cy="954107"/>
          </a:xfrm>
          <a:prstGeom prst="rect">
            <a:avLst/>
          </a:prstGeom>
          <a:noFill/>
        </p:spPr>
        <p:txBody>
          <a:bodyPr wrap="square" rtlCol="0">
            <a:spAutoFit/>
          </a:bodyPr>
          <a:lstStyle/>
          <a:p>
            <a:r>
              <a:rPr lang="en-US" sz="2800" dirty="0"/>
              <a:t>- sum of loss function values (Variance, Gini index, Entropy) for all leaf nodes</a:t>
            </a:r>
          </a:p>
        </p:txBody>
      </p:sp>
      <p:sp>
        <p:nvSpPr>
          <p:cNvPr id="15" name="TextBox 14">
            <a:extLst>
              <a:ext uri="{FF2B5EF4-FFF2-40B4-BE49-F238E27FC236}">
                <a16:creationId xmlns:a16="http://schemas.microsoft.com/office/drawing/2014/main" id="{4B6F64CF-A788-7519-4585-B1D6F96790FF}"/>
              </a:ext>
            </a:extLst>
          </p:cNvPr>
          <p:cNvSpPr txBox="1"/>
          <p:nvPr/>
        </p:nvSpPr>
        <p:spPr>
          <a:xfrm>
            <a:off x="2519530" y="4103937"/>
            <a:ext cx="4572386" cy="523220"/>
          </a:xfrm>
          <a:prstGeom prst="rect">
            <a:avLst/>
          </a:prstGeom>
          <a:noFill/>
        </p:spPr>
        <p:txBody>
          <a:bodyPr wrap="square" rtlCol="0">
            <a:spAutoFit/>
          </a:bodyPr>
          <a:lstStyle/>
          <a:p>
            <a:r>
              <a:rPr lang="en-US" sz="2800" dirty="0"/>
              <a:t>- number of tree nodes</a:t>
            </a:r>
          </a:p>
        </p:txBody>
      </p:sp>
      <p:pic>
        <p:nvPicPr>
          <p:cNvPr id="17" name="Рисунок 16">
            <a:extLst>
              <a:ext uri="{FF2B5EF4-FFF2-40B4-BE49-F238E27FC236}">
                <a16:creationId xmlns:a16="http://schemas.microsoft.com/office/drawing/2014/main" id="{3E9B3519-8A05-D945-1F61-277BD3E491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62490" y="4835442"/>
            <a:ext cx="411287" cy="331313"/>
          </a:xfrm>
          <a:prstGeom prst="rect">
            <a:avLst/>
          </a:prstGeom>
        </p:spPr>
      </p:pic>
      <p:sp>
        <p:nvSpPr>
          <p:cNvPr id="18" name="TextBox 17">
            <a:extLst>
              <a:ext uri="{FF2B5EF4-FFF2-40B4-BE49-F238E27FC236}">
                <a16:creationId xmlns:a16="http://schemas.microsoft.com/office/drawing/2014/main" id="{3A4B170B-C61F-2F0E-4FBA-04213E1A9FAE}"/>
              </a:ext>
            </a:extLst>
          </p:cNvPr>
          <p:cNvSpPr txBox="1"/>
          <p:nvPr/>
        </p:nvSpPr>
        <p:spPr>
          <a:xfrm>
            <a:off x="2554969" y="4734807"/>
            <a:ext cx="7939366" cy="523220"/>
          </a:xfrm>
          <a:prstGeom prst="rect">
            <a:avLst/>
          </a:prstGeom>
          <a:noFill/>
        </p:spPr>
        <p:txBody>
          <a:bodyPr wrap="square" rtlCol="0">
            <a:spAutoFit/>
          </a:bodyPr>
          <a:lstStyle/>
          <a:p>
            <a:r>
              <a:rPr lang="en-US" sz="2800" dirty="0"/>
              <a:t>- hyperparameter that is tuned using cross-validation</a:t>
            </a:r>
          </a:p>
        </p:txBody>
      </p:sp>
    </p:spTree>
    <p:extLst>
      <p:ext uri="{BB962C8B-B14F-4D97-AF65-F5344CB8AC3E}">
        <p14:creationId xmlns:p14="http://schemas.microsoft.com/office/powerpoint/2010/main" val="1579137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5872-2F4C-5D2B-80DD-38876422215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092375-A599-92C4-A5D9-E8BABB03866F}"/>
              </a:ext>
            </a:extLst>
          </p:cNvPr>
          <p:cNvSpPr>
            <a:spLocks noGrp="1"/>
          </p:cNvSpPr>
          <p:nvPr>
            <p:ph type="title"/>
          </p:nvPr>
        </p:nvSpPr>
        <p:spPr/>
        <p:txBody>
          <a:bodyPr/>
          <a:lstStyle/>
          <a:p>
            <a:r>
              <a:rPr lang="en-US" dirty="0"/>
              <a:t>Cost Complexity Pruning</a:t>
            </a:r>
            <a:endParaRPr lang="ru-RU" dirty="0"/>
          </a:p>
        </p:txBody>
      </p:sp>
      <p:sp>
        <p:nvSpPr>
          <p:cNvPr id="4" name="TextBox 3">
            <a:extLst>
              <a:ext uri="{FF2B5EF4-FFF2-40B4-BE49-F238E27FC236}">
                <a16:creationId xmlns:a16="http://schemas.microsoft.com/office/drawing/2014/main" id="{82CAEB05-D4A3-6DE5-03C4-8B6C36C3EAB5}"/>
              </a:ext>
            </a:extLst>
          </p:cNvPr>
          <p:cNvSpPr txBox="1"/>
          <p:nvPr/>
        </p:nvSpPr>
        <p:spPr>
          <a:xfrm>
            <a:off x="838200" y="2528888"/>
            <a:ext cx="9191625" cy="523220"/>
          </a:xfrm>
          <a:prstGeom prst="rect">
            <a:avLst/>
          </a:prstGeom>
          <a:noFill/>
        </p:spPr>
        <p:txBody>
          <a:bodyPr wrap="square" rtlCol="0">
            <a:spAutoFit/>
          </a:bodyPr>
          <a:lstStyle/>
          <a:p>
            <a:r>
              <a:rPr lang="en-US" sz="2800" dirty="0"/>
              <a:t>Step 1. Build DT on training set until reaching perfect quality.</a:t>
            </a:r>
          </a:p>
        </p:txBody>
      </p:sp>
      <p:sp>
        <p:nvSpPr>
          <p:cNvPr id="3" name="TextBox 2">
            <a:extLst>
              <a:ext uri="{FF2B5EF4-FFF2-40B4-BE49-F238E27FC236}">
                <a16:creationId xmlns:a16="http://schemas.microsoft.com/office/drawing/2014/main" id="{0EBCE2E7-785B-E9E4-7686-552EE0FA3BC7}"/>
              </a:ext>
            </a:extLst>
          </p:cNvPr>
          <p:cNvSpPr txBox="1"/>
          <p:nvPr/>
        </p:nvSpPr>
        <p:spPr>
          <a:xfrm>
            <a:off x="857250" y="3176588"/>
            <a:ext cx="7572375" cy="523220"/>
          </a:xfrm>
          <a:prstGeom prst="rect">
            <a:avLst/>
          </a:prstGeom>
          <a:noFill/>
        </p:spPr>
        <p:txBody>
          <a:bodyPr wrap="square" rtlCol="0">
            <a:spAutoFit/>
          </a:bodyPr>
          <a:lstStyle/>
          <a:p>
            <a:r>
              <a:rPr lang="en-US" sz="2800" dirty="0"/>
              <a:t>Step 2. For each internal node compute:</a:t>
            </a:r>
          </a:p>
        </p:txBody>
      </p:sp>
      <p:pic>
        <p:nvPicPr>
          <p:cNvPr id="6" name="Рисунок 5" descr="Изображение выглядит как Шрифт, текст, линия, белый&#10;&#10;Контент, сгенерированный ИИ, может содержать ошибки.">
            <a:extLst>
              <a:ext uri="{FF2B5EF4-FFF2-40B4-BE49-F238E27FC236}">
                <a16:creationId xmlns:a16="http://schemas.microsoft.com/office/drawing/2014/main" id="{97711CFB-3F57-B8A1-C224-53F366225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9752" y="3765347"/>
            <a:ext cx="2734598" cy="888085"/>
          </a:xfrm>
          <a:prstGeom prst="rect">
            <a:avLst/>
          </a:prstGeom>
        </p:spPr>
      </p:pic>
      <p:pic>
        <p:nvPicPr>
          <p:cNvPr id="9" name="Рисунок 8">
            <a:extLst>
              <a:ext uri="{FF2B5EF4-FFF2-40B4-BE49-F238E27FC236}">
                <a16:creationId xmlns:a16="http://schemas.microsoft.com/office/drawing/2014/main" id="{3DE2606E-65B3-9ADE-BE59-2263469875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3663" y="4005715"/>
            <a:ext cx="622312" cy="392142"/>
          </a:xfrm>
          <a:prstGeom prst="rect">
            <a:avLst/>
          </a:prstGeom>
        </p:spPr>
      </p:pic>
      <p:sp>
        <p:nvSpPr>
          <p:cNvPr id="11" name="TextBox 10">
            <a:extLst>
              <a:ext uri="{FF2B5EF4-FFF2-40B4-BE49-F238E27FC236}">
                <a16:creationId xmlns:a16="http://schemas.microsoft.com/office/drawing/2014/main" id="{09FA2985-F7A9-FC8C-D5AC-F2C9AA6BA503}"/>
              </a:ext>
            </a:extLst>
          </p:cNvPr>
          <p:cNvSpPr txBox="1"/>
          <p:nvPr/>
        </p:nvSpPr>
        <p:spPr>
          <a:xfrm>
            <a:off x="5895975" y="3921126"/>
            <a:ext cx="5867400" cy="523220"/>
          </a:xfrm>
          <a:prstGeom prst="rect">
            <a:avLst/>
          </a:prstGeom>
          <a:noFill/>
        </p:spPr>
        <p:txBody>
          <a:bodyPr wrap="square" rtlCol="0">
            <a:spAutoFit/>
          </a:bodyPr>
          <a:lstStyle/>
          <a:p>
            <a:r>
              <a:rPr lang="en-US" sz="2800" dirty="0"/>
              <a:t>- DT quality, when t is collapsed to leaf.</a:t>
            </a:r>
          </a:p>
        </p:txBody>
      </p:sp>
      <p:sp>
        <p:nvSpPr>
          <p:cNvPr id="16" name="TextBox 15">
            <a:extLst>
              <a:ext uri="{FF2B5EF4-FFF2-40B4-BE49-F238E27FC236}">
                <a16:creationId xmlns:a16="http://schemas.microsoft.com/office/drawing/2014/main" id="{9096AE2A-40B0-A1A5-8810-2AF2A6C3D98A}"/>
              </a:ext>
            </a:extLst>
          </p:cNvPr>
          <p:cNvSpPr txBox="1"/>
          <p:nvPr/>
        </p:nvSpPr>
        <p:spPr>
          <a:xfrm>
            <a:off x="857250" y="4921239"/>
            <a:ext cx="10287000" cy="1384995"/>
          </a:xfrm>
          <a:prstGeom prst="rect">
            <a:avLst/>
          </a:prstGeom>
          <a:noFill/>
        </p:spPr>
        <p:txBody>
          <a:bodyPr wrap="square" rtlCol="0">
            <a:spAutoFit/>
          </a:bodyPr>
          <a:lstStyle/>
          <a:p>
            <a:r>
              <a:rPr lang="en-US" sz="2800" dirty="0"/>
              <a:t>Step 3. Find smallest g(t), collapse the corresponding leaf, recompute g(t) for all leaf</a:t>
            </a:r>
            <a:r>
              <a:rPr lang="ru-RU" sz="2800" dirty="0"/>
              <a:t> </a:t>
            </a:r>
            <a:r>
              <a:rPr lang="en-US" sz="2800" dirty="0"/>
              <a:t>predecessors, repeat the procedure until only root is left. Store g(t) for collapsed leaves as a set of alphas.</a:t>
            </a:r>
          </a:p>
        </p:txBody>
      </p:sp>
      <p:sp>
        <p:nvSpPr>
          <p:cNvPr id="19" name="TextBox 18">
            <a:extLst>
              <a:ext uri="{FF2B5EF4-FFF2-40B4-BE49-F238E27FC236}">
                <a16:creationId xmlns:a16="http://schemas.microsoft.com/office/drawing/2014/main" id="{CA5A5A23-D1A9-E591-A46E-E542F2A9EED6}"/>
              </a:ext>
            </a:extLst>
          </p:cNvPr>
          <p:cNvSpPr txBox="1"/>
          <p:nvPr/>
        </p:nvSpPr>
        <p:spPr>
          <a:xfrm>
            <a:off x="838199" y="1582927"/>
            <a:ext cx="4629151" cy="523220"/>
          </a:xfrm>
          <a:prstGeom prst="rect">
            <a:avLst/>
          </a:prstGeom>
          <a:noFill/>
        </p:spPr>
        <p:txBody>
          <a:bodyPr wrap="square" rtlCol="0">
            <a:spAutoFit/>
          </a:bodyPr>
          <a:lstStyle/>
          <a:p>
            <a:r>
              <a:rPr lang="en-US" sz="2800" b="1" dirty="0"/>
              <a:t>Stage 1. Find a grid of alphas.</a:t>
            </a:r>
          </a:p>
        </p:txBody>
      </p:sp>
    </p:spTree>
    <p:extLst>
      <p:ext uri="{BB962C8B-B14F-4D97-AF65-F5344CB8AC3E}">
        <p14:creationId xmlns:p14="http://schemas.microsoft.com/office/powerpoint/2010/main" val="4189591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5872-2F4C-5D2B-80DD-38876422215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092375-A599-92C4-A5D9-E8BABB03866F}"/>
              </a:ext>
            </a:extLst>
          </p:cNvPr>
          <p:cNvSpPr>
            <a:spLocks noGrp="1"/>
          </p:cNvSpPr>
          <p:nvPr>
            <p:ph type="title"/>
          </p:nvPr>
        </p:nvSpPr>
        <p:spPr/>
        <p:txBody>
          <a:bodyPr/>
          <a:lstStyle/>
          <a:p>
            <a:r>
              <a:rPr lang="en-US" dirty="0"/>
              <a:t>Cost Complexity Pruning</a:t>
            </a:r>
            <a:endParaRPr lang="ru-RU" dirty="0"/>
          </a:p>
        </p:txBody>
      </p:sp>
      <p:pic>
        <p:nvPicPr>
          <p:cNvPr id="18" name="Рисунок 17" descr="Изображение выглядит как текст, линия, Шрифт, диаграмма&#10;&#10;Контент, сгенерированный ИИ, может содержать ошибки.">
            <a:extLst>
              <a:ext uri="{FF2B5EF4-FFF2-40B4-BE49-F238E27FC236}">
                <a16:creationId xmlns:a16="http://schemas.microsoft.com/office/drawing/2014/main" id="{AC409FBB-E35F-CF5F-2F06-9C88D2E656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183" y="1450856"/>
            <a:ext cx="10693011" cy="5245219"/>
          </a:xfrm>
          <a:prstGeom prst="rect">
            <a:avLst/>
          </a:prstGeom>
        </p:spPr>
      </p:pic>
    </p:spTree>
    <p:extLst>
      <p:ext uri="{BB962C8B-B14F-4D97-AF65-F5344CB8AC3E}">
        <p14:creationId xmlns:p14="http://schemas.microsoft.com/office/powerpoint/2010/main" val="1000696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5872-2F4C-5D2B-80DD-38876422215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092375-A599-92C4-A5D9-E8BABB03866F}"/>
              </a:ext>
            </a:extLst>
          </p:cNvPr>
          <p:cNvSpPr>
            <a:spLocks noGrp="1"/>
          </p:cNvSpPr>
          <p:nvPr>
            <p:ph type="title"/>
          </p:nvPr>
        </p:nvSpPr>
        <p:spPr/>
        <p:txBody>
          <a:bodyPr/>
          <a:lstStyle/>
          <a:p>
            <a:r>
              <a:rPr lang="en-US" dirty="0"/>
              <a:t>Cost Complexity Pruning</a:t>
            </a:r>
            <a:endParaRPr lang="ru-RU" dirty="0"/>
          </a:p>
        </p:txBody>
      </p:sp>
      <p:sp>
        <p:nvSpPr>
          <p:cNvPr id="4" name="TextBox 3">
            <a:extLst>
              <a:ext uri="{FF2B5EF4-FFF2-40B4-BE49-F238E27FC236}">
                <a16:creationId xmlns:a16="http://schemas.microsoft.com/office/drawing/2014/main" id="{82CAEB05-D4A3-6DE5-03C4-8B6C36C3EAB5}"/>
              </a:ext>
            </a:extLst>
          </p:cNvPr>
          <p:cNvSpPr txBox="1"/>
          <p:nvPr/>
        </p:nvSpPr>
        <p:spPr>
          <a:xfrm>
            <a:off x="838200" y="1690688"/>
            <a:ext cx="9191625" cy="523220"/>
          </a:xfrm>
          <a:prstGeom prst="rect">
            <a:avLst/>
          </a:prstGeom>
          <a:noFill/>
        </p:spPr>
        <p:txBody>
          <a:bodyPr wrap="square" rtlCol="0">
            <a:spAutoFit/>
          </a:bodyPr>
          <a:lstStyle/>
          <a:p>
            <a:r>
              <a:rPr lang="en-US" sz="2800" b="1" dirty="0"/>
              <a:t>Stage 2. Choose best alpha</a:t>
            </a:r>
          </a:p>
        </p:txBody>
      </p:sp>
      <p:sp>
        <p:nvSpPr>
          <p:cNvPr id="3" name="TextBox 2">
            <a:extLst>
              <a:ext uri="{FF2B5EF4-FFF2-40B4-BE49-F238E27FC236}">
                <a16:creationId xmlns:a16="http://schemas.microsoft.com/office/drawing/2014/main" id="{0EBCE2E7-785B-E9E4-7686-552EE0FA3BC7}"/>
              </a:ext>
            </a:extLst>
          </p:cNvPr>
          <p:cNvSpPr txBox="1"/>
          <p:nvPr/>
        </p:nvSpPr>
        <p:spPr>
          <a:xfrm>
            <a:off x="857250" y="2338388"/>
            <a:ext cx="9324975" cy="954107"/>
          </a:xfrm>
          <a:prstGeom prst="rect">
            <a:avLst/>
          </a:prstGeom>
          <a:noFill/>
        </p:spPr>
        <p:txBody>
          <a:bodyPr wrap="square" rtlCol="0">
            <a:spAutoFit/>
          </a:bodyPr>
          <a:lstStyle/>
          <a:p>
            <a:r>
              <a:rPr lang="en-US" sz="2800" dirty="0"/>
              <a:t>Step 1. For each alpha and for each CV split train DT on train part and validate on test part.</a:t>
            </a:r>
          </a:p>
        </p:txBody>
      </p:sp>
      <p:sp>
        <p:nvSpPr>
          <p:cNvPr id="5" name="TextBox 4">
            <a:extLst>
              <a:ext uri="{FF2B5EF4-FFF2-40B4-BE49-F238E27FC236}">
                <a16:creationId xmlns:a16="http://schemas.microsoft.com/office/drawing/2014/main" id="{4C9DA7DD-C363-F5A1-B60A-017DE51B5E76}"/>
              </a:ext>
            </a:extLst>
          </p:cNvPr>
          <p:cNvSpPr txBox="1"/>
          <p:nvPr/>
        </p:nvSpPr>
        <p:spPr>
          <a:xfrm>
            <a:off x="857251" y="3508356"/>
            <a:ext cx="9591674" cy="954107"/>
          </a:xfrm>
          <a:prstGeom prst="rect">
            <a:avLst/>
          </a:prstGeom>
          <a:noFill/>
        </p:spPr>
        <p:txBody>
          <a:bodyPr wrap="square" rtlCol="0">
            <a:spAutoFit/>
          </a:bodyPr>
          <a:lstStyle/>
          <a:p>
            <a:r>
              <a:rPr lang="en-US" sz="2800" dirty="0"/>
              <a:t>Step 2. Choose alpha with the best CV score. Alternative: choose the highest alpha with score &gt;= </a:t>
            </a:r>
            <a:r>
              <a:rPr lang="en-US" sz="2800" dirty="0" err="1"/>
              <a:t>best_score</a:t>
            </a:r>
            <a:r>
              <a:rPr lang="en-US" sz="2800" dirty="0"/>
              <a:t> – one CV std</a:t>
            </a:r>
          </a:p>
        </p:txBody>
      </p:sp>
      <p:sp>
        <p:nvSpPr>
          <p:cNvPr id="7" name="TextBox 6">
            <a:extLst>
              <a:ext uri="{FF2B5EF4-FFF2-40B4-BE49-F238E27FC236}">
                <a16:creationId xmlns:a16="http://schemas.microsoft.com/office/drawing/2014/main" id="{7AF555F1-2A70-F0C8-BDF1-503FC1CE6884}"/>
              </a:ext>
            </a:extLst>
          </p:cNvPr>
          <p:cNvSpPr txBox="1"/>
          <p:nvPr/>
        </p:nvSpPr>
        <p:spPr>
          <a:xfrm>
            <a:off x="866775" y="4699783"/>
            <a:ext cx="9591674" cy="523220"/>
          </a:xfrm>
          <a:prstGeom prst="rect">
            <a:avLst/>
          </a:prstGeom>
          <a:noFill/>
        </p:spPr>
        <p:txBody>
          <a:bodyPr wrap="square" rtlCol="0">
            <a:spAutoFit/>
          </a:bodyPr>
          <a:lstStyle/>
          <a:p>
            <a:r>
              <a:rPr lang="en-US" sz="2800" dirty="0"/>
              <a:t>Step 3. Train DT on full train set using chosen alpha</a:t>
            </a:r>
          </a:p>
        </p:txBody>
      </p:sp>
    </p:spTree>
    <p:extLst>
      <p:ext uri="{BB962C8B-B14F-4D97-AF65-F5344CB8AC3E}">
        <p14:creationId xmlns:p14="http://schemas.microsoft.com/office/powerpoint/2010/main" val="1819623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5872-2F4C-5D2B-80DD-38876422215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092375-A599-92C4-A5D9-E8BABB03866F}"/>
              </a:ext>
            </a:extLst>
          </p:cNvPr>
          <p:cNvSpPr>
            <a:spLocks noGrp="1"/>
          </p:cNvSpPr>
          <p:nvPr>
            <p:ph type="title"/>
          </p:nvPr>
        </p:nvSpPr>
        <p:spPr/>
        <p:txBody>
          <a:bodyPr/>
          <a:lstStyle/>
          <a:p>
            <a:r>
              <a:rPr lang="en-US" dirty="0"/>
              <a:t>Cost Complexity Pruning</a:t>
            </a:r>
            <a:endParaRPr lang="ru-RU" dirty="0"/>
          </a:p>
        </p:txBody>
      </p:sp>
      <p:sp>
        <p:nvSpPr>
          <p:cNvPr id="3" name="TextBox 2">
            <a:extLst>
              <a:ext uri="{FF2B5EF4-FFF2-40B4-BE49-F238E27FC236}">
                <a16:creationId xmlns:a16="http://schemas.microsoft.com/office/drawing/2014/main" id="{0EBCE2E7-785B-E9E4-7686-552EE0FA3BC7}"/>
              </a:ext>
            </a:extLst>
          </p:cNvPr>
          <p:cNvSpPr txBox="1"/>
          <p:nvPr/>
        </p:nvSpPr>
        <p:spPr>
          <a:xfrm>
            <a:off x="857250" y="1852613"/>
            <a:ext cx="9324975" cy="954107"/>
          </a:xfrm>
          <a:prstGeom prst="rect">
            <a:avLst/>
          </a:prstGeom>
          <a:noFill/>
        </p:spPr>
        <p:txBody>
          <a:bodyPr wrap="square" rtlCol="0">
            <a:spAutoFit/>
          </a:bodyPr>
          <a:lstStyle/>
          <a:p>
            <a:r>
              <a:rPr lang="en-US" sz="2800" dirty="0"/>
              <a:t>In ML compositions with many decision trees (Random Forest, Gradient Boosting) pruning procedure is usually not used.</a:t>
            </a:r>
          </a:p>
        </p:txBody>
      </p:sp>
    </p:spTree>
    <p:extLst>
      <p:ext uri="{BB962C8B-B14F-4D97-AF65-F5344CB8AC3E}">
        <p14:creationId xmlns:p14="http://schemas.microsoft.com/office/powerpoint/2010/main" val="2389869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20EFB8-153D-9789-B9E9-E835FDBDB1CD}"/>
              </a:ext>
            </a:extLst>
          </p:cNvPr>
          <p:cNvSpPr>
            <a:spLocks noGrp="1"/>
          </p:cNvSpPr>
          <p:nvPr>
            <p:ph type="title"/>
          </p:nvPr>
        </p:nvSpPr>
        <p:spPr/>
        <p:txBody>
          <a:bodyPr/>
          <a:lstStyle/>
          <a:p>
            <a:r>
              <a:rPr lang="en-US" dirty="0"/>
              <a:t>Working with missing/unknown values in decision trees</a:t>
            </a:r>
            <a:endParaRPr lang="ru-RU" dirty="0"/>
          </a:p>
        </p:txBody>
      </p:sp>
      <p:sp>
        <p:nvSpPr>
          <p:cNvPr id="8" name="TextBox 7">
            <a:extLst>
              <a:ext uri="{FF2B5EF4-FFF2-40B4-BE49-F238E27FC236}">
                <a16:creationId xmlns:a16="http://schemas.microsoft.com/office/drawing/2014/main" id="{3628200C-998A-C118-E72A-C815BBC4E421}"/>
              </a:ext>
            </a:extLst>
          </p:cNvPr>
          <p:cNvSpPr txBox="1"/>
          <p:nvPr/>
        </p:nvSpPr>
        <p:spPr>
          <a:xfrm>
            <a:off x="876301" y="2980521"/>
            <a:ext cx="8210550" cy="1815882"/>
          </a:xfrm>
          <a:prstGeom prst="rect">
            <a:avLst/>
          </a:prstGeom>
          <a:noFill/>
        </p:spPr>
        <p:txBody>
          <a:bodyPr wrap="square" rtlCol="0">
            <a:spAutoFit/>
          </a:bodyPr>
          <a:lstStyle/>
          <a:p>
            <a:r>
              <a:rPr lang="en-US" sz="2800" dirty="0"/>
              <a:t>Method: on each split send all objects with unknown feature value 1) to left subtree and 2) to right subtree. For each case compute Information Gain (IG) and set default direction for higher IG.</a:t>
            </a:r>
          </a:p>
        </p:txBody>
      </p:sp>
      <p:sp>
        <p:nvSpPr>
          <p:cNvPr id="9" name="TextBox 8">
            <a:extLst>
              <a:ext uri="{FF2B5EF4-FFF2-40B4-BE49-F238E27FC236}">
                <a16:creationId xmlns:a16="http://schemas.microsoft.com/office/drawing/2014/main" id="{864456CD-A240-8974-F5B4-C6FB2CC4CCAD}"/>
              </a:ext>
            </a:extLst>
          </p:cNvPr>
          <p:cNvSpPr txBox="1"/>
          <p:nvPr/>
        </p:nvSpPr>
        <p:spPr>
          <a:xfrm>
            <a:off x="876301" y="1719263"/>
            <a:ext cx="7677150" cy="954107"/>
          </a:xfrm>
          <a:prstGeom prst="rect">
            <a:avLst/>
          </a:prstGeom>
          <a:noFill/>
        </p:spPr>
        <p:txBody>
          <a:bodyPr wrap="square" rtlCol="0">
            <a:spAutoFit/>
          </a:bodyPr>
          <a:lstStyle/>
          <a:p>
            <a:r>
              <a:rPr lang="en-US" sz="2800" dirty="0"/>
              <a:t>Idea: set default direction (left/right) for unknown feature value in each node</a:t>
            </a:r>
          </a:p>
        </p:txBody>
      </p:sp>
      <p:pic>
        <p:nvPicPr>
          <p:cNvPr id="12" name="Рисунок 11" descr="Изображение выглядит как текст, Шрифт, снимок экрана, линия&#10;&#10;Контент, сгенерированный ИИ, может содержать ошибки.">
            <a:extLst>
              <a:ext uri="{FF2B5EF4-FFF2-40B4-BE49-F238E27FC236}">
                <a16:creationId xmlns:a16="http://schemas.microsoft.com/office/drawing/2014/main" id="{FBF8030C-2CDF-ED18-5A3B-6EF3A0664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7350" y="1824265"/>
            <a:ext cx="2457450" cy="2888582"/>
          </a:xfrm>
          <a:prstGeom prst="rect">
            <a:avLst/>
          </a:prstGeom>
        </p:spPr>
      </p:pic>
    </p:spTree>
    <p:extLst>
      <p:ext uri="{BB962C8B-B14F-4D97-AF65-F5344CB8AC3E}">
        <p14:creationId xmlns:p14="http://schemas.microsoft.com/office/powerpoint/2010/main" val="3211692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740516-7AA0-9ADD-53A5-665E32E8EE8D}"/>
              </a:ext>
            </a:extLst>
          </p:cNvPr>
          <p:cNvSpPr>
            <a:spLocks noGrp="1"/>
          </p:cNvSpPr>
          <p:nvPr>
            <p:ph type="title"/>
          </p:nvPr>
        </p:nvSpPr>
        <p:spPr/>
        <p:txBody>
          <a:bodyPr/>
          <a:lstStyle/>
          <a:p>
            <a:r>
              <a:rPr lang="en-US" dirty="0"/>
              <a:t>Working with categorical features in decision trees</a:t>
            </a:r>
            <a:endParaRPr lang="ru-RU" dirty="0"/>
          </a:p>
        </p:txBody>
      </p:sp>
      <p:sp>
        <p:nvSpPr>
          <p:cNvPr id="4" name="TextBox 3">
            <a:extLst>
              <a:ext uri="{FF2B5EF4-FFF2-40B4-BE49-F238E27FC236}">
                <a16:creationId xmlns:a16="http://schemas.microsoft.com/office/drawing/2014/main" id="{C3142BA5-7BE9-9F8C-6A0B-C3CFD1AFBED8}"/>
              </a:ext>
            </a:extLst>
          </p:cNvPr>
          <p:cNvSpPr txBox="1"/>
          <p:nvPr/>
        </p:nvSpPr>
        <p:spPr>
          <a:xfrm>
            <a:off x="848833" y="1679950"/>
            <a:ext cx="8121326" cy="523220"/>
          </a:xfrm>
          <a:prstGeom prst="rect">
            <a:avLst/>
          </a:prstGeom>
          <a:noFill/>
        </p:spPr>
        <p:txBody>
          <a:bodyPr wrap="none" rtlCol="0">
            <a:spAutoFit/>
          </a:bodyPr>
          <a:lstStyle/>
          <a:p>
            <a:r>
              <a:rPr lang="en-US" sz="2800" dirty="0"/>
              <a:t>Strategy 1: Number of children = number of categories</a:t>
            </a:r>
          </a:p>
        </p:txBody>
      </p:sp>
      <p:pic>
        <p:nvPicPr>
          <p:cNvPr id="6" name="Рисунок 5">
            <a:extLst>
              <a:ext uri="{FF2B5EF4-FFF2-40B4-BE49-F238E27FC236}">
                <a16:creationId xmlns:a16="http://schemas.microsoft.com/office/drawing/2014/main" id="{F8C19F50-40B7-5A24-CEA1-54F8E81EB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6504" y="2160638"/>
            <a:ext cx="6775548" cy="967935"/>
          </a:xfrm>
          <a:prstGeom prst="rect">
            <a:avLst/>
          </a:prstGeom>
        </p:spPr>
      </p:pic>
      <p:sp>
        <p:nvSpPr>
          <p:cNvPr id="9" name="TextBox 8">
            <a:extLst>
              <a:ext uri="{FF2B5EF4-FFF2-40B4-BE49-F238E27FC236}">
                <a16:creationId xmlns:a16="http://schemas.microsoft.com/office/drawing/2014/main" id="{268FB870-C8B8-AFB7-2EF2-7327DA9DFB5D}"/>
              </a:ext>
            </a:extLst>
          </p:cNvPr>
          <p:cNvSpPr txBox="1"/>
          <p:nvPr/>
        </p:nvSpPr>
        <p:spPr>
          <a:xfrm>
            <a:off x="838200" y="3376223"/>
            <a:ext cx="10763250" cy="1384995"/>
          </a:xfrm>
          <a:prstGeom prst="rect">
            <a:avLst/>
          </a:prstGeom>
          <a:noFill/>
        </p:spPr>
        <p:txBody>
          <a:bodyPr wrap="square">
            <a:spAutoFit/>
          </a:bodyPr>
          <a:lstStyle/>
          <a:p>
            <a:r>
              <a:rPr lang="en-US" sz="2800" dirty="0"/>
              <a:t>Advantage: one-hot-encoding and binary splits requires tree depth </a:t>
            </a:r>
            <a:r>
              <a:rPr lang="en-US" sz="2800" i="1" dirty="0"/>
              <a:t>q </a:t>
            </a:r>
            <a:r>
              <a:rPr lang="en-US" sz="2800" dirty="0"/>
              <a:t>in order to process all possible feature value; here instead we do only one split</a:t>
            </a:r>
            <a:endParaRPr lang="ru-RU" sz="2800" dirty="0"/>
          </a:p>
        </p:txBody>
      </p:sp>
      <p:sp>
        <p:nvSpPr>
          <p:cNvPr id="5" name="TextBox 4">
            <a:extLst>
              <a:ext uri="{FF2B5EF4-FFF2-40B4-BE49-F238E27FC236}">
                <a16:creationId xmlns:a16="http://schemas.microsoft.com/office/drawing/2014/main" id="{4F3CB59F-9B88-C28B-6D16-593AF8CCCFD7}"/>
              </a:ext>
            </a:extLst>
          </p:cNvPr>
          <p:cNvSpPr txBox="1"/>
          <p:nvPr/>
        </p:nvSpPr>
        <p:spPr>
          <a:xfrm>
            <a:off x="853128" y="5031901"/>
            <a:ext cx="10763250" cy="954107"/>
          </a:xfrm>
          <a:prstGeom prst="rect">
            <a:avLst/>
          </a:prstGeom>
          <a:noFill/>
        </p:spPr>
        <p:txBody>
          <a:bodyPr wrap="square">
            <a:spAutoFit/>
          </a:bodyPr>
          <a:lstStyle/>
          <a:p>
            <a:r>
              <a:rPr lang="en-US" sz="2800" dirty="0"/>
              <a:t>Disadvantage: for large </a:t>
            </a:r>
            <a:r>
              <a:rPr lang="en-US" sz="2800" i="1" dirty="0"/>
              <a:t>q</a:t>
            </a:r>
            <a:r>
              <a:rPr lang="en-US" sz="2800" dirty="0"/>
              <a:t> may lead to splits with many tiny sets and overfitting</a:t>
            </a:r>
            <a:endParaRPr lang="ru-RU" sz="2800" dirty="0"/>
          </a:p>
        </p:txBody>
      </p:sp>
    </p:spTree>
    <p:extLst>
      <p:ext uri="{BB962C8B-B14F-4D97-AF65-F5344CB8AC3E}">
        <p14:creationId xmlns:p14="http://schemas.microsoft.com/office/powerpoint/2010/main" val="1602323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740516-7AA0-9ADD-53A5-665E32E8EE8D}"/>
              </a:ext>
            </a:extLst>
          </p:cNvPr>
          <p:cNvSpPr>
            <a:spLocks noGrp="1"/>
          </p:cNvSpPr>
          <p:nvPr>
            <p:ph type="title"/>
          </p:nvPr>
        </p:nvSpPr>
        <p:spPr/>
        <p:txBody>
          <a:bodyPr/>
          <a:lstStyle/>
          <a:p>
            <a:r>
              <a:rPr lang="en-US" dirty="0"/>
              <a:t>Working with categorical features in decision trees</a:t>
            </a:r>
            <a:endParaRPr lang="ru-RU" dirty="0"/>
          </a:p>
        </p:txBody>
      </p:sp>
      <p:pic>
        <p:nvPicPr>
          <p:cNvPr id="8" name="Рисунок 7">
            <a:extLst>
              <a:ext uri="{FF2B5EF4-FFF2-40B4-BE49-F238E27FC236}">
                <a16:creationId xmlns:a16="http://schemas.microsoft.com/office/drawing/2014/main" id="{CC9D8EA0-75C0-81A4-4DE1-F98A2B22D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1655" y="2435940"/>
            <a:ext cx="4360988" cy="584582"/>
          </a:xfrm>
          <a:prstGeom prst="rect">
            <a:avLst/>
          </a:prstGeom>
        </p:spPr>
      </p:pic>
      <p:pic>
        <p:nvPicPr>
          <p:cNvPr id="10" name="Рисунок 9">
            <a:extLst>
              <a:ext uri="{FF2B5EF4-FFF2-40B4-BE49-F238E27FC236}">
                <a16:creationId xmlns:a16="http://schemas.microsoft.com/office/drawing/2014/main" id="{2665512C-1B99-C454-58E1-916CAADDE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1460" y="3108798"/>
            <a:ext cx="2987860" cy="584582"/>
          </a:xfrm>
          <a:prstGeom prst="rect">
            <a:avLst/>
          </a:prstGeom>
        </p:spPr>
      </p:pic>
      <p:sp>
        <p:nvSpPr>
          <p:cNvPr id="3" name="TextBox 2">
            <a:extLst>
              <a:ext uri="{FF2B5EF4-FFF2-40B4-BE49-F238E27FC236}">
                <a16:creationId xmlns:a16="http://schemas.microsoft.com/office/drawing/2014/main" id="{6FE9361B-28BD-80A0-8A90-ADEE486E3377}"/>
              </a:ext>
            </a:extLst>
          </p:cNvPr>
          <p:cNvSpPr txBox="1"/>
          <p:nvPr/>
        </p:nvSpPr>
        <p:spPr>
          <a:xfrm>
            <a:off x="882505" y="3786771"/>
            <a:ext cx="9262920" cy="523220"/>
          </a:xfrm>
          <a:prstGeom prst="rect">
            <a:avLst/>
          </a:prstGeom>
          <a:noFill/>
        </p:spPr>
        <p:txBody>
          <a:bodyPr wrap="none" rtlCol="0">
            <a:spAutoFit/>
          </a:bodyPr>
          <a:lstStyle/>
          <a:p>
            <a:r>
              <a:rPr lang="en-US" sz="2800" dirty="0"/>
              <a:t>Direct implementation requires here                  number of splits</a:t>
            </a:r>
            <a:endParaRPr lang="ru-RU" sz="2800" dirty="0"/>
          </a:p>
        </p:txBody>
      </p:sp>
      <p:pic>
        <p:nvPicPr>
          <p:cNvPr id="7" name="Рисунок 6">
            <a:extLst>
              <a:ext uri="{FF2B5EF4-FFF2-40B4-BE49-F238E27FC236}">
                <a16:creationId xmlns:a16="http://schemas.microsoft.com/office/drawing/2014/main" id="{2E8E4F7B-DD6D-12DB-D6D1-196F4D0F84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2008" y="3765503"/>
            <a:ext cx="1371558" cy="563318"/>
          </a:xfrm>
          <a:prstGeom prst="rect">
            <a:avLst/>
          </a:prstGeom>
        </p:spPr>
      </p:pic>
      <p:sp>
        <p:nvSpPr>
          <p:cNvPr id="9" name="TextBox 8">
            <a:extLst>
              <a:ext uri="{FF2B5EF4-FFF2-40B4-BE49-F238E27FC236}">
                <a16:creationId xmlns:a16="http://schemas.microsoft.com/office/drawing/2014/main" id="{268FB870-C8B8-AFB7-2EF2-7327DA9DFB5D}"/>
              </a:ext>
            </a:extLst>
          </p:cNvPr>
          <p:cNvSpPr txBox="1"/>
          <p:nvPr/>
        </p:nvSpPr>
        <p:spPr>
          <a:xfrm>
            <a:off x="838200" y="1823168"/>
            <a:ext cx="7817588" cy="523220"/>
          </a:xfrm>
          <a:prstGeom prst="rect">
            <a:avLst/>
          </a:prstGeom>
          <a:noFill/>
        </p:spPr>
        <p:txBody>
          <a:bodyPr wrap="square">
            <a:spAutoFit/>
          </a:bodyPr>
          <a:lstStyle/>
          <a:p>
            <a:r>
              <a:rPr lang="en-US" sz="2800" dirty="0"/>
              <a:t>Strategy 2: Split all categories into two subsets</a:t>
            </a:r>
            <a:endParaRPr lang="ru-RU" sz="2800" dirty="0"/>
          </a:p>
        </p:txBody>
      </p:sp>
    </p:spTree>
    <p:extLst>
      <p:ext uri="{BB962C8B-B14F-4D97-AF65-F5344CB8AC3E}">
        <p14:creationId xmlns:p14="http://schemas.microsoft.com/office/powerpoint/2010/main" val="2114225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740516-7AA0-9ADD-53A5-665E32E8EE8D}"/>
              </a:ext>
            </a:extLst>
          </p:cNvPr>
          <p:cNvSpPr>
            <a:spLocks noGrp="1"/>
          </p:cNvSpPr>
          <p:nvPr>
            <p:ph type="title"/>
          </p:nvPr>
        </p:nvSpPr>
        <p:spPr/>
        <p:txBody>
          <a:bodyPr/>
          <a:lstStyle/>
          <a:p>
            <a:r>
              <a:rPr lang="en-US" dirty="0"/>
              <a:t>Working with categorical features in decision trees</a:t>
            </a:r>
            <a:endParaRPr lang="ru-RU" dirty="0"/>
          </a:p>
        </p:txBody>
      </p:sp>
      <p:pic>
        <p:nvPicPr>
          <p:cNvPr id="5" name="Рисунок 4">
            <a:extLst>
              <a:ext uri="{FF2B5EF4-FFF2-40B4-BE49-F238E27FC236}">
                <a16:creationId xmlns:a16="http://schemas.microsoft.com/office/drawing/2014/main" id="{79EC3C8A-CADF-0F86-9DB4-318550C9A0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594" y="1690688"/>
            <a:ext cx="934442" cy="446456"/>
          </a:xfrm>
          <a:prstGeom prst="rect">
            <a:avLst/>
          </a:prstGeom>
        </p:spPr>
      </p:pic>
      <p:sp>
        <p:nvSpPr>
          <p:cNvPr id="7" name="TextBox 6">
            <a:extLst>
              <a:ext uri="{FF2B5EF4-FFF2-40B4-BE49-F238E27FC236}">
                <a16:creationId xmlns:a16="http://schemas.microsoft.com/office/drawing/2014/main" id="{48AFEC73-D4A4-1060-80C6-3F59C584DA56}"/>
              </a:ext>
            </a:extLst>
          </p:cNvPr>
          <p:cNvSpPr txBox="1"/>
          <p:nvPr/>
        </p:nvSpPr>
        <p:spPr>
          <a:xfrm>
            <a:off x="1796239" y="1624557"/>
            <a:ext cx="6797695" cy="523220"/>
          </a:xfrm>
          <a:prstGeom prst="rect">
            <a:avLst/>
          </a:prstGeom>
          <a:noFill/>
        </p:spPr>
        <p:txBody>
          <a:bodyPr wrap="none" rtlCol="0">
            <a:spAutoFit/>
          </a:bodyPr>
          <a:lstStyle/>
          <a:p>
            <a:r>
              <a:rPr lang="en-US" sz="2800" dirty="0"/>
              <a:t>- objects from the current set with category u</a:t>
            </a:r>
            <a:endParaRPr lang="ru-RU" sz="2800" dirty="0"/>
          </a:p>
        </p:txBody>
      </p:sp>
      <p:pic>
        <p:nvPicPr>
          <p:cNvPr id="11" name="Рисунок 10">
            <a:extLst>
              <a:ext uri="{FF2B5EF4-FFF2-40B4-BE49-F238E27FC236}">
                <a16:creationId xmlns:a16="http://schemas.microsoft.com/office/drawing/2014/main" id="{33DDC659-B2B0-CD8D-A856-3A8B711EEE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4040" y="2947288"/>
            <a:ext cx="8734261" cy="969351"/>
          </a:xfrm>
          <a:prstGeom prst="rect">
            <a:avLst/>
          </a:prstGeom>
        </p:spPr>
      </p:pic>
      <p:sp>
        <p:nvSpPr>
          <p:cNvPr id="12" name="TextBox 11">
            <a:extLst>
              <a:ext uri="{FF2B5EF4-FFF2-40B4-BE49-F238E27FC236}">
                <a16:creationId xmlns:a16="http://schemas.microsoft.com/office/drawing/2014/main" id="{19986C0A-9FF1-1B6D-E255-C17CC9A7AC9D}"/>
              </a:ext>
            </a:extLst>
          </p:cNvPr>
          <p:cNvSpPr txBox="1"/>
          <p:nvPr/>
        </p:nvSpPr>
        <p:spPr>
          <a:xfrm>
            <a:off x="858805" y="2269396"/>
            <a:ext cx="6480107" cy="523220"/>
          </a:xfrm>
          <a:prstGeom prst="rect">
            <a:avLst/>
          </a:prstGeom>
          <a:noFill/>
        </p:spPr>
        <p:txBody>
          <a:bodyPr wrap="none" rtlCol="0">
            <a:spAutoFit/>
          </a:bodyPr>
          <a:lstStyle/>
          <a:p>
            <a:r>
              <a:rPr lang="en-US" sz="2800" dirty="0"/>
              <a:t>Let’s sort all categories </a:t>
            </a:r>
            <a:r>
              <a:rPr lang="en-US" sz="2800" dirty="0" err="1"/>
              <a:t>w.r.t.</a:t>
            </a:r>
            <a:r>
              <a:rPr lang="en-US" sz="2800" dirty="0"/>
              <a:t> target variable</a:t>
            </a:r>
            <a:endParaRPr lang="ru-RU" sz="2800" dirty="0"/>
          </a:p>
        </p:txBody>
      </p:sp>
      <p:pic>
        <p:nvPicPr>
          <p:cNvPr id="14" name="Рисунок 13">
            <a:extLst>
              <a:ext uri="{FF2B5EF4-FFF2-40B4-BE49-F238E27FC236}">
                <a16:creationId xmlns:a16="http://schemas.microsoft.com/office/drawing/2014/main" id="{63CCB59E-E3E3-5753-ECC3-80E4EB37C8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0942" y="4036870"/>
            <a:ext cx="7249503" cy="969351"/>
          </a:xfrm>
          <a:prstGeom prst="rect">
            <a:avLst/>
          </a:prstGeom>
        </p:spPr>
      </p:pic>
      <p:pic>
        <p:nvPicPr>
          <p:cNvPr id="18" name="Рисунок 17">
            <a:extLst>
              <a:ext uri="{FF2B5EF4-FFF2-40B4-BE49-F238E27FC236}">
                <a16:creationId xmlns:a16="http://schemas.microsoft.com/office/drawing/2014/main" id="{25499110-EB0A-5E79-716D-061ED18363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5086" y="5638757"/>
            <a:ext cx="1359870" cy="534650"/>
          </a:xfrm>
          <a:prstGeom prst="rect">
            <a:avLst/>
          </a:prstGeom>
        </p:spPr>
      </p:pic>
      <p:sp>
        <p:nvSpPr>
          <p:cNvPr id="19" name="TextBox 18">
            <a:extLst>
              <a:ext uri="{FF2B5EF4-FFF2-40B4-BE49-F238E27FC236}">
                <a16:creationId xmlns:a16="http://schemas.microsoft.com/office/drawing/2014/main" id="{8FAEC449-FAFB-64C9-7562-9D6153C14B79}"/>
              </a:ext>
            </a:extLst>
          </p:cNvPr>
          <p:cNvSpPr txBox="1"/>
          <p:nvPr/>
        </p:nvSpPr>
        <p:spPr>
          <a:xfrm>
            <a:off x="858805" y="2938264"/>
            <a:ext cx="2245235" cy="954106"/>
          </a:xfrm>
          <a:prstGeom prst="rect">
            <a:avLst/>
          </a:prstGeom>
          <a:noFill/>
        </p:spPr>
        <p:txBody>
          <a:bodyPr wrap="square" rtlCol="0">
            <a:spAutoFit/>
          </a:bodyPr>
          <a:lstStyle/>
          <a:p>
            <a:r>
              <a:rPr lang="en-US" sz="2800" dirty="0"/>
              <a:t>Binary classification:</a:t>
            </a:r>
            <a:endParaRPr lang="ru-RU" sz="2800" dirty="0"/>
          </a:p>
        </p:txBody>
      </p:sp>
      <p:sp>
        <p:nvSpPr>
          <p:cNvPr id="20" name="TextBox 19">
            <a:extLst>
              <a:ext uri="{FF2B5EF4-FFF2-40B4-BE49-F238E27FC236}">
                <a16:creationId xmlns:a16="http://schemas.microsoft.com/office/drawing/2014/main" id="{76FF474D-4EC4-44E3-647C-5E0E4A01B76B}"/>
              </a:ext>
            </a:extLst>
          </p:cNvPr>
          <p:cNvSpPr txBox="1"/>
          <p:nvPr/>
        </p:nvSpPr>
        <p:spPr>
          <a:xfrm>
            <a:off x="858804" y="4168983"/>
            <a:ext cx="1856790" cy="523220"/>
          </a:xfrm>
          <a:prstGeom prst="rect">
            <a:avLst/>
          </a:prstGeom>
          <a:noFill/>
        </p:spPr>
        <p:txBody>
          <a:bodyPr wrap="none" rtlCol="0">
            <a:spAutoFit/>
          </a:bodyPr>
          <a:lstStyle/>
          <a:p>
            <a:r>
              <a:rPr lang="en-US" sz="2800" dirty="0"/>
              <a:t>Regression:</a:t>
            </a:r>
            <a:endParaRPr lang="ru-RU" sz="2800" dirty="0"/>
          </a:p>
        </p:txBody>
      </p:sp>
      <p:sp>
        <p:nvSpPr>
          <p:cNvPr id="21" name="TextBox 20">
            <a:extLst>
              <a:ext uri="{FF2B5EF4-FFF2-40B4-BE49-F238E27FC236}">
                <a16:creationId xmlns:a16="http://schemas.microsoft.com/office/drawing/2014/main" id="{9F4CD6C3-CAE0-21ED-46CA-264F823B44D3}"/>
              </a:ext>
            </a:extLst>
          </p:cNvPr>
          <p:cNvSpPr txBox="1"/>
          <p:nvPr/>
        </p:nvSpPr>
        <p:spPr>
          <a:xfrm>
            <a:off x="886695" y="5155454"/>
            <a:ext cx="10563904" cy="954107"/>
          </a:xfrm>
          <a:prstGeom prst="rect">
            <a:avLst/>
          </a:prstGeom>
          <a:noFill/>
        </p:spPr>
        <p:txBody>
          <a:bodyPr wrap="square" rtlCol="0">
            <a:spAutoFit/>
          </a:bodyPr>
          <a:lstStyle/>
          <a:p>
            <a:r>
              <a:rPr lang="en-US" sz="2800" dirty="0"/>
              <a:t>Transform categorical feature into numerical one and compute Gini index or entropy criteria</a:t>
            </a:r>
            <a:endParaRPr lang="ru-RU" sz="2800" dirty="0"/>
          </a:p>
        </p:txBody>
      </p:sp>
      <p:sp>
        <p:nvSpPr>
          <p:cNvPr id="3" name="TextBox 2">
            <a:extLst>
              <a:ext uri="{FF2B5EF4-FFF2-40B4-BE49-F238E27FC236}">
                <a16:creationId xmlns:a16="http://schemas.microsoft.com/office/drawing/2014/main" id="{C3E362A7-C896-A63E-A9BD-1ED978F37EA4}"/>
              </a:ext>
            </a:extLst>
          </p:cNvPr>
          <p:cNvSpPr txBox="1"/>
          <p:nvPr/>
        </p:nvSpPr>
        <p:spPr>
          <a:xfrm>
            <a:off x="886695" y="6231265"/>
            <a:ext cx="10763250" cy="523220"/>
          </a:xfrm>
          <a:prstGeom prst="rect">
            <a:avLst/>
          </a:prstGeom>
          <a:noFill/>
        </p:spPr>
        <p:txBody>
          <a:bodyPr wrap="square">
            <a:spAutoFit/>
          </a:bodyPr>
          <a:lstStyle/>
          <a:p>
            <a:r>
              <a:rPr lang="en-US" sz="2800" dirty="0"/>
              <a:t>For binary classification and regression this is an exact procedure</a:t>
            </a:r>
            <a:endParaRPr lang="ru-RU" sz="2800" dirty="0"/>
          </a:p>
        </p:txBody>
      </p:sp>
    </p:spTree>
    <p:extLst>
      <p:ext uri="{BB962C8B-B14F-4D97-AF65-F5344CB8AC3E}">
        <p14:creationId xmlns:p14="http://schemas.microsoft.com/office/powerpoint/2010/main" val="539192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740516-7AA0-9ADD-53A5-665E32E8EE8D}"/>
              </a:ext>
            </a:extLst>
          </p:cNvPr>
          <p:cNvSpPr>
            <a:spLocks noGrp="1"/>
          </p:cNvSpPr>
          <p:nvPr>
            <p:ph type="title"/>
          </p:nvPr>
        </p:nvSpPr>
        <p:spPr/>
        <p:txBody>
          <a:bodyPr/>
          <a:lstStyle/>
          <a:p>
            <a:r>
              <a:rPr lang="en-US" dirty="0"/>
              <a:t>Working with categorical features in decision trees</a:t>
            </a:r>
            <a:endParaRPr lang="ru-RU" dirty="0"/>
          </a:p>
        </p:txBody>
      </p:sp>
      <p:pic>
        <p:nvPicPr>
          <p:cNvPr id="18" name="Рисунок 17">
            <a:extLst>
              <a:ext uri="{FF2B5EF4-FFF2-40B4-BE49-F238E27FC236}">
                <a16:creationId xmlns:a16="http://schemas.microsoft.com/office/drawing/2014/main" id="{25499110-EB0A-5E79-716D-061ED18363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1197" y="4785748"/>
            <a:ext cx="1359870" cy="534650"/>
          </a:xfrm>
          <a:prstGeom prst="rect">
            <a:avLst/>
          </a:prstGeom>
        </p:spPr>
      </p:pic>
      <p:sp>
        <p:nvSpPr>
          <p:cNvPr id="19" name="TextBox 18">
            <a:extLst>
              <a:ext uri="{FF2B5EF4-FFF2-40B4-BE49-F238E27FC236}">
                <a16:creationId xmlns:a16="http://schemas.microsoft.com/office/drawing/2014/main" id="{8FAEC449-FAFB-64C9-7562-9D6153C14B79}"/>
              </a:ext>
            </a:extLst>
          </p:cNvPr>
          <p:cNvSpPr txBox="1"/>
          <p:nvPr/>
        </p:nvSpPr>
        <p:spPr>
          <a:xfrm>
            <a:off x="857251" y="1801821"/>
            <a:ext cx="10698124" cy="980674"/>
          </a:xfrm>
          <a:prstGeom prst="rect">
            <a:avLst/>
          </a:prstGeom>
          <a:noFill/>
        </p:spPr>
        <p:txBody>
          <a:bodyPr wrap="square" rtlCol="0">
            <a:spAutoFit/>
          </a:bodyPr>
          <a:lstStyle/>
          <a:p>
            <a:r>
              <a:rPr lang="en-US" sz="2800" dirty="0"/>
              <a:t>K-class Classification: for each category </a:t>
            </a:r>
            <a:r>
              <a:rPr lang="en-US" sz="2800" dirty="0" err="1"/>
              <a:t>u_j</a:t>
            </a:r>
            <a:r>
              <a:rPr lang="en-US" sz="2800" dirty="0"/>
              <a:t> compute a vector of probabilities for each class k:</a:t>
            </a:r>
            <a:endParaRPr lang="ru-RU" sz="2800" dirty="0"/>
          </a:p>
        </p:txBody>
      </p:sp>
      <p:sp>
        <p:nvSpPr>
          <p:cNvPr id="21" name="TextBox 20">
            <a:extLst>
              <a:ext uri="{FF2B5EF4-FFF2-40B4-BE49-F238E27FC236}">
                <a16:creationId xmlns:a16="http://schemas.microsoft.com/office/drawing/2014/main" id="{9F4CD6C3-CAE0-21ED-46CA-264F823B44D3}"/>
              </a:ext>
            </a:extLst>
          </p:cNvPr>
          <p:cNvSpPr txBox="1"/>
          <p:nvPr/>
        </p:nvSpPr>
        <p:spPr>
          <a:xfrm>
            <a:off x="877096" y="3781891"/>
            <a:ext cx="10563904" cy="954107"/>
          </a:xfrm>
          <a:prstGeom prst="rect">
            <a:avLst/>
          </a:prstGeom>
          <a:noFill/>
        </p:spPr>
        <p:txBody>
          <a:bodyPr wrap="square" rtlCol="0">
            <a:spAutoFit/>
          </a:bodyPr>
          <a:lstStyle/>
          <a:p>
            <a:r>
              <a:rPr lang="en-US" sz="2800" dirty="0"/>
              <a:t>For a space of probability vectors make dimension reduction to 1d space using PCA and sort all vectors </a:t>
            </a:r>
            <a:r>
              <a:rPr lang="en-US" sz="2800" dirty="0" err="1"/>
              <a:t>w.r.t.</a:t>
            </a:r>
            <a:r>
              <a:rPr lang="en-US" sz="2800" dirty="0"/>
              <a:t> this 1d coordinate </a:t>
            </a:r>
            <a:endParaRPr lang="ru-RU" sz="2800" dirty="0"/>
          </a:p>
        </p:txBody>
      </p:sp>
      <p:sp>
        <p:nvSpPr>
          <p:cNvPr id="3" name="TextBox 2">
            <a:extLst>
              <a:ext uri="{FF2B5EF4-FFF2-40B4-BE49-F238E27FC236}">
                <a16:creationId xmlns:a16="http://schemas.microsoft.com/office/drawing/2014/main" id="{34F49962-5891-C9AC-39BE-3A9B4DC3D3FA}"/>
              </a:ext>
            </a:extLst>
          </p:cNvPr>
          <p:cNvSpPr txBox="1"/>
          <p:nvPr/>
        </p:nvSpPr>
        <p:spPr>
          <a:xfrm>
            <a:off x="877170" y="5960130"/>
            <a:ext cx="6504705" cy="523220"/>
          </a:xfrm>
          <a:prstGeom prst="rect">
            <a:avLst/>
          </a:prstGeom>
          <a:noFill/>
        </p:spPr>
        <p:txBody>
          <a:bodyPr wrap="square">
            <a:spAutoFit/>
          </a:bodyPr>
          <a:lstStyle/>
          <a:p>
            <a:r>
              <a:rPr lang="en-US" sz="2800" dirty="0"/>
              <a:t>For K-class classification this is a heuristics</a:t>
            </a:r>
            <a:endParaRPr lang="ru-RU" sz="2800" dirty="0"/>
          </a:p>
        </p:txBody>
      </p:sp>
      <p:pic>
        <p:nvPicPr>
          <p:cNvPr id="6" name="Рисунок 5" descr="Изображение выглядит как текст, Шрифт, белый, линия&#10;&#10;Контент, сгенерированный ИИ, может содержать ошибки.">
            <a:extLst>
              <a:ext uri="{FF2B5EF4-FFF2-40B4-BE49-F238E27FC236}">
                <a16:creationId xmlns:a16="http://schemas.microsoft.com/office/drawing/2014/main" id="{F47D90EB-6D85-BA86-BAF3-FCE591A2A9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1816" y="2811879"/>
            <a:ext cx="5076933" cy="918902"/>
          </a:xfrm>
          <a:prstGeom prst="rect">
            <a:avLst/>
          </a:prstGeom>
        </p:spPr>
      </p:pic>
      <p:sp>
        <p:nvSpPr>
          <p:cNvPr id="8" name="TextBox 7">
            <a:extLst>
              <a:ext uri="{FF2B5EF4-FFF2-40B4-BE49-F238E27FC236}">
                <a16:creationId xmlns:a16="http://schemas.microsoft.com/office/drawing/2014/main" id="{4F1355C0-7683-490B-5C73-D8F306684B25}"/>
              </a:ext>
            </a:extLst>
          </p:cNvPr>
          <p:cNvSpPr txBox="1"/>
          <p:nvPr/>
        </p:nvSpPr>
        <p:spPr>
          <a:xfrm>
            <a:off x="877170" y="5241179"/>
            <a:ext cx="10563904" cy="523220"/>
          </a:xfrm>
          <a:prstGeom prst="rect">
            <a:avLst/>
          </a:prstGeom>
          <a:noFill/>
        </p:spPr>
        <p:txBody>
          <a:bodyPr wrap="square" rtlCol="0">
            <a:spAutoFit/>
          </a:bodyPr>
          <a:lstStyle/>
          <a:p>
            <a:r>
              <a:rPr lang="en-US" sz="2800" dirty="0"/>
              <a:t>Find best split by computing Gini index on this new numerical feature</a:t>
            </a:r>
            <a:endParaRPr lang="ru-RU" sz="2800" dirty="0"/>
          </a:p>
        </p:txBody>
      </p:sp>
    </p:spTree>
    <p:extLst>
      <p:ext uri="{BB962C8B-B14F-4D97-AF65-F5344CB8AC3E}">
        <p14:creationId xmlns:p14="http://schemas.microsoft.com/office/powerpoint/2010/main" val="3026071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2393BA-0043-3D11-2BDD-EC7461A99114}"/>
              </a:ext>
            </a:extLst>
          </p:cNvPr>
          <p:cNvSpPr>
            <a:spLocks noGrp="1"/>
          </p:cNvSpPr>
          <p:nvPr>
            <p:ph type="title"/>
          </p:nvPr>
        </p:nvSpPr>
        <p:spPr/>
        <p:txBody>
          <a:bodyPr/>
          <a:lstStyle/>
          <a:p>
            <a:r>
              <a:rPr lang="en-US" dirty="0"/>
              <a:t>Decision Tree as a linear classifier</a:t>
            </a:r>
            <a:endParaRPr lang="ru-RU" dirty="0"/>
          </a:p>
        </p:txBody>
      </p:sp>
      <p:pic>
        <p:nvPicPr>
          <p:cNvPr id="5" name="Рисунок 4">
            <a:extLst>
              <a:ext uri="{FF2B5EF4-FFF2-40B4-BE49-F238E27FC236}">
                <a16:creationId xmlns:a16="http://schemas.microsoft.com/office/drawing/2014/main" id="{E2BDC1D7-3675-8D4A-5B06-1841A8CF7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833" y="1497002"/>
            <a:ext cx="3547484" cy="672039"/>
          </a:xfrm>
          <a:prstGeom prst="rect">
            <a:avLst/>
          </a:prstGeom>
        </p:spPr>
      </p:pic>
      <p:pic>
        <p:nvPicPr>
          <p:cNvPr id="7" name="Рисунок 6">
            <a:extLst>
              <a:ext uri="{FF2B5EF4-FFF2-40B4-BE49-F238E27FC236}">
                <a16:creationId xmlns:a16="http://schemas.microsoft.com/office/drawing/2014/main" id="{87687059-D00E-9EAE-A01B-AB0896557E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251" y="2249136"/>
            <a:ext cx="2816863" cy="945453"/>
          </a:xfrm>
          <a:prstGeom prst="rect">
            <a:avLst/>
          </a:prstGeom>
        </p:spPr>
      </p:pic>
      <p:sp>
        <p:nvSpPr>
          <p:cNvPr id="8" name="TextBox 7">
            <a:extLst>
              <a:ext uri="{FF2B5EF4-FFF2-40B4-BE49-F238E27FC236}">
                <a16:creationId xmlns:a16="http://schemas.microsoft.com/office/drawing/2014/main" id="{24438C7D-625C-15B6-53D8-27F3599F1F56}"/>
              </a:ext>
            </a:extLst>
          </p:cNvPr>
          <p:cNvSpPr txBox="1"/>
          <p:nvPr/>
        </p:nvSpPr>
        <p:spPr>
          <a:xfrm>
            <a:off x="957251" y="3472680"/>
            <a:ext cx="7995684" cy="954107"/>
          </a:xfrm>
          <a:prstGeom prst="rect">
            <a:avLst/>
          </a:prstGeom>
          <a:noFill/>
        </p:spPr>
        <p:txBody>
          <a:bodyPr wrap="square" rtlCol="0">
            <a:spAutoFit/>
          </a:bodyPr>
          <a:lstStyle/>
          <a:p>
            <a:r>
              <a:rPr lang="en-US" sz="2800" dirty="0"/>
              <a:t>DT can be interpreted as constructing a linear classifier/regressor on top of learnable features</a:t>
            </a:r>
            <a:endParaRPr lang="ru-RU" sz="2800" dirty="0"/>
          </a:p>
        </p:txBody>
      </p:sp>
      <p:pic>
        <p:nvPicPr>
          <p:cNvPr id="3" name="Рисунок 2">
            <a:extLst>
              <a:ext uri="{FF2B5EF4-FFF2-40B4-BE49-F238E27FC236}">
                <a16:creationId xmlns:a16="http://schemas.microsoft.com/office/drawing/2014/main" id="{286B091A-4DC1-ED3F-17D3-C0C24A2A21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8961" y="1664395"/>
            <a:ext cx="3149762" cy="2762392"/>
          </a:xfrm>
          <a:prstGeom prst="rect">
            <a:avLst/>
          </a:prstGeom>
        </p:spPr>
      </p:pic>
    </p:spTree>
    <p:extLst>
      <p:ext uri="{BB962C8B-B14F-4D97-AF65-F5344CB8AC3E}">
        <p14:creationId xmlns:p14="http://schemas.microsoft.com/office/powerpoint/2010/main" val="1375845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48818-A39C-0BB2-642B-C6B47E47115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4382D-6D48-D869-C11D-AA82CFB51C63}"/>
              </a:ext>
            </a:extLst>
          </p:cNvPr>
          <p:cNvSpPr>
            <a:spLocks noGrp="1"/>
          </p:cNvSpPr>
          <p:nvPr>
            <p:ph type="ctrTitle"/>
          </p:nvPr>
        </p:nvSpPr>
        <p:spPr>
          <a:xfrm>
            <a:off x="723014" y="1520455"/>
            <a:ext cx="10866474" cy="1881961"/>
          </a:xfrm>
        </p:spPr>
        <p:txBody>
          <a:bodyPr>
            <a:normAutofit/>
          </a:bodyPr>
          <a:lstStyle/>
          <a:p>
            <a:r>
              <a:rPr lang="en-US" dirty="0"/>
              <a:t>Feature Importance</a:t>
            </a:r>
            <a:endParaRPr lang="ru-RU" dirty="0"/>
          </a:p>
        </p:txBody>
      </p:sp>
    </p:spTree>
    <p:extLst>
      <p:ext uri="{BB962C8B-B14F-4D97-AF65-F5344CB8AC3E}">
        <p14:creationId xmlns:p14="http://schemas.microsoft.com/office/powerpoint/2010/main" val="2633443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1A666-8FD6-0B87-388B-73679B29295B}"/>
              </a:ext>
            </a:extLst>
          </p:cNvPr>
          <p:cNvSpPr>
            <a:spLocks noGrp="1"/>
          </p:cNvSpPr>
          <p:nvPr>
            <p:ph type="title"/>
          </p:nvPr>
        </p:nvSpPr>
        <p:spPr/>
        <p:txBody>
          <a:bodyPr/>
          <a:lstStyle/>
          <a:p>
            <a:r>
              <a:rPr lang="en-US" dirty="0"/>
              <a:t>Linear Regression with L2 </a:t>
            </a:r>
            <a:r>
              <a:rPr lang="en-US" dirty="0" err="1"/>
              <a:t>regularizer</a:t>
            </a:r>
            <a:endParaRPr lang="ru-RU" dirty="0"/>
          </a:p>
        </p:txBody>
      </p:sp>
      <p:sp>
        <p:nvSpPr>
          <p:cNvPr id="4" name="TextBox 3">
            <a:extLst>
              <a:ext uri="{FF2B5EF4-FFF2-40B4-BE49-F238E27FC236}">
                <a16:creationId xmlns:a16="http://schemas.microsoft.com/office/drawing/2014/main" id="{D8170E18-8B4F-1421-7237-BFDF16D8F751}"/>
              </a:ext>
            </a:extLst>
          </p:cNvPr>
          <p:cNvSpPr txBox="1"/>
          <p:nvPr/>
        </p:nvSpPr>
        <p:spPr>
          <a:xfrm>
            <a:off x="838201" y="2259021"/>
            <a:ext cx="8934450" cy="954107"/>
          </a:xfrm>
          <a:prstGeom prst="rect">
            <a:avLst/>
          </a:prstGeom>
          <a:noFill/>
        </p:spPr>
        <p:txBody>
          <a:bodyPr wrap="square" rtlCol="0">
            <a:spAutoFit/>
          </a:bodyPr>
          <a:lstStyle/>
          <a:p>
            <a:r>
              <a:rPr lang="en-US" sz="2800" dirty="0"/>
              <a:t>Normalize features, train L2-regularized Linear Regression and use        as feature importance value</a:t>
            </a:r>
            <a:endParaRPr lang="ru-RU" sz="2800" dirty="0"/>
          </a:p>
        </p:txBody>
      </p:sp>
      <p:pic>
        <p:nvPicPr>
          <p:cNvPr id="6" name="Рисунок 5" descr="Изображение выглядит как Шрифт, линия, рукописный текст, белый&#10;&#10;Контент, сгенерированный ИИ, может содержать ошибки.">
            <a:extLst>
              <a:ext uri="{FF2B5EF4-FFF2-40B4-BE49-F238E27FC236}">
                <a16:creationId xmlns:a16="http://schemas.microsoft.com/office/drawing/2014/main" id="{D7AD6D78-80D7-5807-6DB3-7DB0DB1E8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875" y="1466832"/>
            <a:ext cx="4742141" cy="838218"/>
          </a:xfrm>
          <a:prstGeom prst="rect">
            <a:avLst/>
          </a:prstGeom>
        </p:spPr>
      </p:pic>
      <p:pic>
        <p:nvPicPr>
          <p:cNvPr id="8" name="Рисунок 7" descr="Изображение выглядит как Шрифт, типография, каллиграфия&#10;&#10;Контент, сгенерированный ИИ, может содержать ошибки.">
            <a:extLst>
              <a:ext uri="{FF2B5EF4-FFF2-40B4-BE49-F238E27FC236}">
                <a16:creationId xmlns:a16="http://schemas.microsoft.com/office/drawing/2014/main" id="{B459D7BF-4378-FDD6-0F00-B50FA2D9F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1143" y="2769099"/>
            <a:ext cx="507237" cy="412130"/>
          </a:xfrm>
          <a:prstGeom prst="rect">
            <a:avLst/>
          </a:prstGeom>
        </p:spPr>
      </p:pic>
      <p:pic>
        <p:nvPicPr>
          <p:cNvPr id="10" name="Рисунок 9" descr="Изображение выглядит как текст, снимок экрана, дисплей, линия&#10;&#10;Контент, сгенерированный ИИ, может содержать ошибки.">
            <a:extLst>
              <a:ext uri="{FF2B5EF4-FFF2-40B4-BE49-F238E27FC236}">
                <a16:creationId xmlns:a16="http://schemas.microsoft.com/office/drawing/2014/main" id="{4F298191-3BC7-4C2C-DC16-696951DEB0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8526" y="3383911"/>
            <a:ext cx="5607743" cy="3064513"/>
          </a:xfrm>
          <a:prstGeom prst="rect">
            <a:avLst/>
          </a:prstGeom>
        </p:spPr>
      </p:pic>
      <p:pic>
        <p:nvPicPr>
          <p:cNvPr id="12" name="Рисунок 11" descr="Изображение выглядит как текст, снимок экрана, число, Шрифт&#10;&#10;Контент, сгенерированный ИИ, может содержать ошибки.">
            <a:extLst>
              <a:ext uri="{FF2B5EF4-FFF2-40B4-BE49-F238E27FC236}">
                <a16:creationId xmlns:a16="http://schemas.microsoft.com/office/drawing/2014/main" id="{01EC9CDE-2251-CA25-6279-BFD13FA1CC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7510" y="4693488"/>
            <a:ext cx="3874615" cy="2094680"/>
          </a:xfrm>
          <a:prstGeom prst="rect">
            <a:avLst/>
          </a:prstGeom>
        </p:spPr>
      </p:pic>
      <p:sp>
        <p:nvSpPr>
          <p:cNvPr id="13" name="TextBox 12">
            <a:extLst>
              <a:ext uri="{FF2B5EF4-FFF2-40B4-BE49-F238E27FC236}">
                <a16:creationId xmlns:a16="http://schemas.microsoft.com/office/drawing/2014/main" id="{D3EDBB5A-92B6-A4C9-B322-0279CEA1A6DB}"/>
              </a:ext>
            </a:extLst>
          </p:cNvPr>
          <p:cNvSpPr txBox="1"/>
          <p:nvPr/>
        </p:nvSpPr>
        <p:spPr>
          <a:xfrm>
            <a:off x="838200" y="3335647"/>
            <a:ext cx="5534025" cy="1384995"/>
          </a:xfrm>
          <a:prstGeom prst="rect">
            <a:avLst/>
          </a:prstGeom>
          <a:noFill/>
        </p:spPr>
        <p:txBody>
          <a:bodyPr wrap="square" rtlCol="0">
            <a:spAutoFit/>
          </a:bodyPr>
          <a:lstStyle/>
          <a:p>
            <a:r>
              <a:rPr lang="en-US" sz="2800" dirty="0"/>
              <a:t>Experiment: generate data from linear model and estimate feature importance</a:t>
            </a:r>
            <a:endParaRPr lang="ru-RU" sz="2800" dirty="0"/>
          </a:p>
        </p:txBody>
      </p:sp>
    </p:spTree>
    <p:extLst>
      <p:ext uri="{BB962C8B-B14F-4D97-AF65-F5344CB8AC3E}">
        <p14:creationId xmlns:p14="http://schemas.microsoft.com/office/powerpoint/2010/main" val="662299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1A666-8FD6-0B87-388B-73679B29295B}"/>
              </a:ext>
            </a:extLst>
          </p:cNvPr>
          <p:cNvSpPr>
            <a:spLocks noGrp="1"/>
          </p:cNvSpPr>
          <p:nvPr>
            <p:ph type="title"/>
          </p:nvPr>
        </p:nvSpPr>
        <p:spPr/>
        <p:txBody>
          <a:bodyPr/>
          <a:lstStyle/>
          <a:p>
            <a:r>
              <a:rPr lang="en-US" dirty="0"/>
              <a:t>Linear Regression with L2 </a:t>
            </a:r>
            <a:r>
              <a:rPr lang="en-US" dirty="0" err="1"/>
              <a:t>regularizer</a:t>
            </a:r>
            <a:endParaRPr lang="ru-RU" dirty="0"/>
          </a:p>
        </p:txBody>
      </p:sp>
      <p:sp>
        <p:nvSpPr>
          <p:cNvPr id="3" name="TextBox 2">
            <a:extLst>
              <a:ext uri="{FF2B5EF4-FFF2-40B4-BE49-F238E27FC236}">
                <a16:creationId xmlns:a16="http://schemas.microsoft.com/office/drawing/2014/main" id="{4FE70806-E295-4408-6363-303BCD748F3B}"/>
              </a:ext>
            </a:extLst>
          </p:cNvPr>
          <p:cNvSpPr txBox="1"/>
          <p:nvPr/>
        </p:nvSpPr>
        <p:spPr>
          <a:xfrm>
            <a:off x="838200" y="1592572"/>
            <a:ext cx="5534025" cy="523220"/>
          </a:xfrm>
          <a:prstGeom prst="rect">
            <a:avLst/>
          </a:prstGeom>
          <a:noFill/>
        </p:spPr>
        <p:txBody>
          <a:bodyPr wrap="square" rtlCol="0">
            <a:spAutoFit/>
          </a:bodyPr>
          <a:lstStyle/>
          <a:p>
            <a:r>
              <a:rPr lang="en-US" sz="2800" dirty="0"/>
              <a:t>Let’s consider two identical features</a:t>
            </a:r>
            <a:endParaRPr lang="ru-RU" sz="2800" dirty="0"/>
          </a:p>
        </p:txBody>
      </p:sp>
      <p:pic>
        <p:nvPicPr>
          <p:cNvPr id="7" name="Рисунок 6">
            <a:extLst>
              <a:ext uri="{FF2B5EF4-FFF2-40B4-BE49-F238E27FC236}">
                <a16:creationId xmlns:a16="http://schemas.microsoft.com/office/drawing/2014/main" id="{DFFD6F58-7D9D-0CCE-1487-637061B2E9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0741" y="1687333"/>
            <a:ext cx="1847492" cy="371309"/>
          </a:xfrm>
          <a:prstGeom prst="rect">
            <a:avLst/>
          </a:prstGeom>
        </p:spPr>
      </p:pic>
      <p:pic>
        <p:nvPicPr>
          <p:cNvPr id="11" name="Рисунок 10" descr="Изображение выглядит как текст, Шрифт, белый, типография&#10;&#10;Контент, сгенерированный ИИ, может содержать ошибки.">
            <a:extLst>
              <a:ext uri="{FF2B5EF4-FFF2-40B4-BE49-F238E27FC236}">
                <a16:creationId xmlns:a16="http://schemas.microsoft.com/office/drawing/2014/main" id="{67EBCBDD-9517-5032-41FA-06847F37B3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5725" y="2302500"/>
            <a:ext cx="5961460" cy="1059300"/>
          </a:xfrm>
          <a:prstGeom prst="rect">
            <a:avLst/>
          </a:prstGeom>
        </p:spPr>
      </p:pic>
      <p:sp>
        <p:nvSpPr>
          <p:cNvPr id="14" name="TextBox 13">
            <a:extLst>
              <a:ext uri="{FF2B5EF4-FFF2-40B4-BE49-F238E27FC236}">
                <a16:creationId xmlns:a16="http://schemas.microsoft.com/office/drawing/2014/main" id="{DC859905-5001-FE8F-7E57-B09D6B0D0B38}"/>
              </a:ext>
            </a:extLst>
          </p:cNvPr>
          <p:cNvSpPr txBox="1"/>
          <p:nvPr/>
        </p:nvSpPr>
        <p:spPr>
          <a:xfrm>
            <a:off x="838200" y="2296798"/>
            <a:ext cx="3057525" cy="523220"/>
          </a:xfrm>
          <a:prstGeom prst="rect">
            <a:avLst/>
          </a:prstGeom>
          <a:noFill/>
        </p:spPr>
        <p:txBody>
          <a:bodyPr wrap="square" rtlCol="0">
            <a:spAutoFit/>
          </a:bodyPr>
          <a:lstStyle/>
          <a:p>
            <a:r>
              <a:rPr lang="en-US" sz="2800" dirty="0"/>
              <a:t>Regression training:</a:t>
            </a:r>
            <a:endParaRPr lang="ru-RU" sz="2800" dirty="0"/>
          </a:p>
        </p:txBody>
      </p:sp>
      <p:pic>
        <p:nvPicPr>
          <p:cNvPr id="16" name="Рисунок 15" descr="Изображение выглядит как рукописный текст, линия, диаграмма, Шрифт&#10;&#10;Контент, сгенерированный ИИ, может содержать ошибки.">
            <a:extLst>
              <a:ext uri="{FF2B5EF4-FFF2-40B4-BE49-F238E27FC236}">
                <a16:creationId xmlns:a16="http://schemas.microsoft.com/office/drawing/2014/main" id="{EF2C30A4-AB99-CEFD-B02F-2340662867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4487" y="3514572"/>
            <a:ext cx="3518081" cy="2978303"/>
          </a:xfrm>
          <a:prstGeom prst="rect">
            <a:avLst/>
          </a:prstGeom>
        </p:spPr>
      </p:pic>
      <p:sp>
        <p:nvSpPr>
          <p:cNvPr id="17" name="TextBox 16">
            <a:extLst>
              <a:ext uri="{FF2B5EF4-FFF2-40B4-BE49-F238E27FC236}">
                <a16:creationId xmlns:a16="http://schemas.microsoft.com/office/drawing/2014/main" id="{992F20D3-B1F9-EF3F-971A-258858E0D306}"/>
              </a:ext>
            </a:extLst>
          </p:cNvPr>
          <p:cNvSpPr txBox="1"/>
          <p:nvPr/>
        </p:nvSpPr>
        <p:spPr>
          <a:xfrm>
            <a:off x="838200" y="3776373"/>
            <a:ext cx="3518081" cy="523220"/>
          </a:xfrm>
          <a:prstGeom prst="rect">
            <a:avLst/>
          </a:prstGeom>
          <a:noFill/>
        </p:spPr>
        <p:txBody>
          <a:bodyPr wrap="square" rtlCol="0">
            <a:spAutoFit/>
          </a:bodyPr>
          <a:lstStyle/>
          <a:p>
            <a:r>
              <a:rPr lang="en-US" sz="2800" dirty="0"/>
              <a:t>Weights after training:</a:t>
            </a:r>
            <a:endParaRPr lang="ru-RU" sz="2800" dirty="0"/>
          </a:p>
        </p:txBody>
      </p:sp>
      <p:pic>
        <p:nvPicPr>
          <p:cNvPr id="19" name="Рисунок 18">
            <a:extLst>
              <a:ext uri="{FF2B5EF4-FFF2-40B4-BE49-F238E27FC236}">
                <a16:creationId xmlns:a16="http://schemas.microsoft.com/office/drawing/2014/main" id="{34E924F9-D296-E309-DA8B-266B348E40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48150" y="3909460"/>
            <a:ext cx="1781175" cy="390395"/>
          </a:xfrm>
          <a:prstGeom prst="rect">
            <a:avLst/>
          </a:prstGeom>
        </p:spPr>
      </p:pic>
      <p:sp>
        <p:nvSpPr>
          <p:cNvPr id="20" name="TextBox 19">
            <a:extLst>
              <a:ext uri="{FF2B5EF4-FFF2-40B4-BE49-F238E27FC236}">
                <a16:creationId xmlns:a16="http://schemas.microsoft.com/office/drawing/2014/main" id="{B431329F-C7BF-1A04-7047-D414F948CD3B}"/>
              </a:ext>
            </a:extLst>
          </p:cNvPr>
          <p:cNvSpPr txBox="1"/>
          <p:nvPr/>
        </p:nvSpPr>
        <p:spPr>
          <a:xfrm>
            <a:off x="838200" y="4585643"/>
            <a:ext cx="5534025" cy="954107"/>
          </a:xfrm>
          <a:prstGeom prst="rect">
            <a:avLst/>
          </a:prstGeom>
          <a:noFill/>
        </p:spPr>
        <p:txBody>
          <a:bodyPr wrap="square" rtlCol="0">
            <a:spAutoFit/>
          </a:bodyPr>
          <a:lstStyle/>
          <a:p>
            <a:r>
              <a:rPr lang="en-US" sz="2800" dirty="0"/>
              <a:t>Result: feature importance is spread across several correlated features </a:t>
            </a:r>
            <a:endParaRPr lang="ru-RU" sz="2800" dirty="0"/>
          </a:p>
        </p:txBody>
      </p:sp>
    </p:spTree>
    <p:extLst>
      <p:ext uri="{BB962C8B-B14F-4D97-AF65-F5344CB8AC3E}">
        <p14:creationId xmlns:p14="http://schemas.microsoft.com/office/powerpoint/2010/main" val="393455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1A666-8FD6-0B87-388B-73679B29295B}"/>
              </a:ext>
            </a:extLst>
          </p:cNvPr>
          <p:cNvSpPr>
            <a:spLocks noGrp="1"/>
          </p:cNvSpPr>
          <p:nvPr>
            <p:ph type="title"/>
          </p:nvPr>
        </p:nvSpPr>
        <p:spPr/>
        <p:txBody>
          <a:bodyPr/>
          <a:lstStyle/>
          <a:p>
            <a:r>
              <a:rPr lang="en-US" dirty="0"/>
              <a:t>Linear Regression with L2 </a:t>
            </a:r>
            <a:r>
              <a:rPr lang="en-US" dirty="0" err="1"/>
              <a:t>regularizer</a:t>
            </a:r>
            <a:endParaRPr lang="ru-RU" dirty="0"/>
          </a:p>
        </p:txBody>
      </p:sp>
      <p:sp>
        <p:nvSpPr>
          <p:cNvPr id="3" name="TextBox 2">
            <a:extLst>
              <a:ext uri="{FF2B5EF4-FFF2-40B4-BE49-F238E27FC236}">
                <a16:creationId xmlns:a16="http://schemas.microsoft.com/office/drawing/2014/main" id="{4FE70806-E295-4408-6363-303BCD748F3B}"/>
              </a:ext>
            </a:extLst>
          </p:cNvPr>
          <p:cNvSpPr txBox="1"/>
          <p:nvPr/>
        </p:nvSpPr>
        <p:spPr>
          <a:xfrm>
            <a:off x="838201" y="1592572"/>
            <a:ext cx="2019300" cy="523220"/>
          </a:xfrm>
          <a:prstGeom prst="rect">
            <a:avLst/>
          </a:prstGeom>
          <a:noFill/>
        </p:spPr>
        <p:txBody>
          <a:bodyPr wrap="square" rtlCol="0">
            <a:spAutoFit/>
          </a:bodyPr>
          <a:lstStyle/>
          <a:p>
            <a:r>
              <a:rPr lang="en-US" sz="2800" dirty="0"/>
              <a:t>Experiment:</a:t>
            </a:r>
            <a:endParaRPr lang="ru-RU" sz="2800" dirty="0"/>
          </a:p>
        </p:txBody>
      </p:sp>
      <p:pic>
        <p:nvPicPr>
          <p:cNvPr id="5" name="Рисунок 4" descr="Изображение выглядит как типография, Шрифт, каллиграфия, рукописный текст&#10;&#10;Контент, сгенерированный ИИ, может содержать ошибки.">
            <a:extLst>
              <a:ext uri="{FF2B5EF4-FFF2-40B4-BE49-F238E27FC236}">
                <a16:creationId xmlns:a16="http://schemas.microsoft.com/office/drawing/2014/main" id="{8FBACEE7-96E4-EED8-1559-DCB8FBD61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091" y="1659247"/>
            <a:ext cx="2161665" cy="401796"/>
          </a:xfrm>
          <a:prstGeom prst="rect">
            <a:avLst/>
          </a:prstGeom>
        </p:spPr>
      </p:pic>
      <p:pic>
        <p:nvPicPr>
          <p:cNvPr id="8" name="Рисунок 7">
            <a:extLst>
              <a:ext uri="{FF2B5EF4-FFF2-40B4-BE49-F238E27FC236}">
                <a16:creationId xmlns:a16="http://schemas.microsoft.com/office/drawing/2014/main" id="{73182699-6B38-F678-2F2A-B7F7BD18E6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876" y="2197092"/>
            <a:ext cx="3155426" cy="361969"/>
          </a:xfrm>
          <a:prstGeom prst="rect">
            <a:avLst/>
          </a:prstGeom>
        </p:spPr>
      </p:pic>
      <p:pic>
        <p:nvPicPr>
          <p:cNvPr id="10" name="Рисунок 9">
            <a:extLst>
              <a:ext uri="{FF2B5EF4-FFF2-40B4-BE49-F238E27FC236}">
                <a16:creationId xmlns:a16="http://schemas.microsoft.com/office/drawing/2014/main" id="{53361BC6-1801-9710-01BC-B71DFA79F8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9876" y="2699050"/>
            <a:ext cx="3615939" cy="444200"/>
          </a:xfrm>
          <a:prstGeom prst="rect">
            <a:avLst/>
          </a:prstGeom>
        </p:spPr>
      </p:pic>
      <p:sp>
        <p:nvSpPr>
          <p:cNvPr id="12" name="TextBox 11">
            <a:extLst>
              <a:ext uri="{FF2B5EF4-FFF2-40B4-BE49-F238E27FC236}">
                <a16:creationId xmlns:a16="http://schemas.microsoft.com/office/drawing/2014/main" id="{F2185E68-5835-4923-5DCC-3A4319612613}"/>
              </a:ext>
            </a:extLst>
          </p:cNvPr>
          <p:cNvSpPr txBox="1"/>
          <p:nvPr/>
        </p:nvSpPr>
        <p:spPr>
          <a:xfrm>
            <a:off x="5003756" y="1594973"/>
            <a:ext cx="3886200" cy="523220"/>
          </a:xfrm>
          <a:prstGeom prst="rect">
            <a:avLst/>
          </a:prstGeom>
          <a:noFill/>
        </p:spPr>
        <p:txBody>
          <a:bodyPr wrap="square" rtlCol="0">
            <a:spAutoFit/>
          </a:bodyPr>
          <a:lstStyle/>
          <a:p>
            <a:r>
              <a:rPr lang="en-US" sz="2800" dirty="0"/>
              <a:t>- independent features</a:t>
            </a:r>
            <a:endParaRPr lang="ru-RU" sz="2800" dirty="0"/>
          </a:p>
        </p:txBody>
      </p:sp>
      <p:sp>
        <p:nvSpPr>
          <p:cNvPr id="13" name="TextBox 12">
            <a:extLst>
              <a:ext uri="{FF2B5EF4-FFF2-40B4-BE49-F238E27FC236}">
                <a16:creationId xmlns:a16="http://schemas.microsoft.com/office/drawing/2014/main" id="{7B0416E8-1B4C-5AE0-A884-AFB9C49C7450}"/>
              </a:ext>
            </a:extLst>
          </p:cNvPr>
          <p:cNvSpPr txBox="1"/>
          <p:nvPr/>
        </p:nvSpPr>
        <p:spPr>
          <a:xfrm>
            <a:off x="5955777" y="2070568"/>
            <a:ext cx="3886200" cy="523220"/>
          </a:xfrm>
          <a:prstGeom prst="rect">
            <a:avLst/>
          </a:prstGeom>
          <a:noFill/>
        </p:spPr>
        <p:txBody>
          <a:bodyPr wrap="square" rtlCol="0">
            <a:spAutoFit/>
          </a:bodyPr>
          <a:lstStyle/>
          <a:p>
            <a:r>
              <a:rPr lang="en-US" sz="2800" dirty="0"/>
              <a:t>- correlated features</a:t>
            </a:r>
            <a:endParaRPr lang="ru-RU" sz="2800" dirty="0"/>
          </a:p>
        </p:txBody>
      </p:sp>
      <p:sp>
        <p:nvSpPr>
          <p:cNvPr id="15" name="TextBox 14">
            <a:extLst>
              <a:ext uri="{FF2B5EF4-FFF2-40B4-BE49-F238E27FC236}">
                <a16:creationId xmlns:a16="http://schemas.microsoft.com/office/drawing/2014/main" id="{0C861FEE-BD23-52BB-654B-77E388130266}"/>
              </a:ext>
            </a:extLst>
          </p:cNvPr>
          <p:cNvSpPr txBox="1"/>
          <p:nvPr/>
        </p:nvSpPr>
        <p:spPr>
          <a:xfrm>
            <a:off x="6460602" y="2630351"/>
            <a:ext cx="2292873" cy="523220"/>
          </a:xfrm>
          <a:prstGeom prst="rect">
            <a:avLst/>
          </a:prstGeom>
          <a:noFill/>
        </p:spPr>
        <p:txBody>
          <a:bodyPr wrap="square" rtlCol="0">
            <a:spAutoFit/>
          </a:bodyPr>
          <a:lstStyle/>
          <a:p>
            <a:r>
              <a:rPr lang="en-US" sz="2800" dirty="0"/>
              <a:t>- target value</a:t>
            </a:r>
            <a:endParaRPr lang="ru-RU" sz="2800" dirty="0"/>
          </a:p>
        </p:txBody>
      </p:sp>
      <p:pic>
        <p:nvPicPr>
          <p:cNvPr id="21" name="Рисунок 20" descr="Изображение выглядит как текст, снимок экрана, диаграмма, График&#10;&#10;Контент, сгенерированный ИИ, может содержать ошибки.">
            <a:extLst>
              <a:ext uri="{FF2B5EF4-FFF2-40B4-BE49-F238E27FC236}">
                <a16:creationId xmlns:a16="http://schemas.microsoft.com/office/drawing/2014/main" id="{0A960107-C9E5-7071-6BA6-B70F37DF0A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1463" y="3348041"/>
            <a:ext cx="4948955" cy="3359256"/>
          </a:xfrm>
          <a:prstGeom prst="rect">
            <a:avLst/>
          </a:prstGeom>
        </p:spPr>
      </p:pic>
      <p:pic>
        <p:nvPicPr>
          <p:cNvPr id="23" name="Рисунок 22" descr="Изображение выглядит как текст, снимок экрана, Шрифт, линия&#10;&#10;Контент, сгенерированный ИИ, может содержать ошибки.">
            <a:extLst>
              <a:ext uri="{FF2B5EF4-FFF2-40B4-BE49-F238E27FC236}">
                <a16:creationId xmlns:a16="http://schemas.microsoft.com/office/drawing/2014/main" id="{B39F6C4B-FA22-6DFE-75E9-71C7359858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 y="3504914"/>
            <a:ext cx="4948955" cy="1522755"/>
          </a:xfrm>
          <a:prstGeom prst="rect">
            <a:avLst/>
          </a:prstGeom>
        </p:spPr>
      </p:pic>
    </p:spTree>
    <p:extLst>
      <p:ext uri="{BB962C8B-B14F-4D97-AF65-F5344CB8AC3E}">
        <p14:creationId xmlns:p14="http://schemas.microsoft.com/office/powerpoint/2010/main" val="2474440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1A666-8FD6-0B87-388B-73679B29295B}"/>
              </a:ext>
            </a:extLst>
          </p:cNvPr>
          <p:cNvSpPr>
            <a:spLocks noGrp="1"/>
          </p:cNvSpPr>
          <p:nvPr>
            <p:ph type="title"/>
          </p:nvPr>
        </p:nvSpPr>
        <p:spPr/>
        <p:txBody>
          <a:bodyPr/>
          <a:lstStyle/>
          <a:p>
            <a:r>
              <a:rPr lang="en-US" dirty="0"/>
              <a:t>Linear Regression with L1 </a:t>
            </a:r>
            <a:r>
              <a:rPr lang="en-US" dirty="0" err="1"/>
              <a:t>regularizer</a:t>
            </a:r>
            <a:endParaRPr lang="ru-RU" dirty="0"/>
          </a:p>
        </p:txBody>
      </p:sp>
      <p:pic>
        <p:nvPicPr>
          <p:cNvPr id="6" name="Рисунок 5" descr="Изображение выглядит как линия, диаграмма, рукописный текст, рисунок&#10;&#10;Контент, сгенерированный ИИ, может содержать ошибки.">
            <a:extLst>
              <a:ext uri="{FF2B5EF4-FFF2-40B4-BE49-F238E27FC236}">
                <a16:creationId xmlns:a16="http://schemas.microsoft.com/office/drawing/2014/main" id="{52848FD9-0571-FC39-5163-636E25627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5719" y="1588926"/>
            <a:ext cx="3518081" cy="3340272"/>
          </a:xfrm>
          <a:prstGeom prst="rect">
            <a:avLst/>
          </a:prstGeom>
        </p:spPr>
      </p:pic>
      <p:pic>
        <p:nvPicPr>
          <p:cNvPr id="9" name="Рисунок 8" descr="Изображение выглядит как текст, Шрифт, рукописный текст, белый&#10;&#10;Контент, сгенерированный ИИ, может содержать ошибки.">
            <a:extLst>
              <a:ext uri="{FF2B5EF4-FFF2-40B4-BE49-F238E27FC236}">
                <a16:creationId xmlns:a16="http://schemas.microsoft.com/office/drawing/2014/main" id="{CA6238C2-C5C3-179A-8700-51BCE198C4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2619329"/>
            <a:ext cx="5788887" cy="1047796"/>
          </a:xfrm>
          <a:prstGeom prst="rect">
            <a:avLst/>
          </a:prstGeom>
        </p:spPr>
      </p:pic>
      <p:sp>
        <p:nvSpPr>
          <p:cNvPr id="11" name="TextBox 10">
            <a:extLst>
              <a:ext uri="{FF2B5EF4-FFF2-40B4-BE49-F238E27FC236}">
                <a16:creationId xmlns:a16="http://schemas.microsoft.com/office/drawing/2014/main" id="{1A278C4B-D5B1-A4C0-D403-19152135CBD8}"/>
              </a:ext>
            </a:extLst>
          </p:cNvPr>
          <p:cNvSpPr txBox="1"/>
          <p:nvPr/>
        </p:nvSpPr>
        <p:spPr>
          <a:xfrm>
            <a:off x="838200" y="1588926"/>
            <a:ext cx="5686425" cy="954107"/>
          </a:xfrm>
          <a:prstGeom prst="rect">
            <a:avLst/>
          </a:prstGeom>
          <a:noFill/>
        </p:spPr>
        <p:txBody>
          <a:bodyPr wrap="square" rtlCol="0">
            <a:spAutoFit/>
          </a:bodyPr>
          <a:lstStyle/>
          <a:p>
            <a:r>
              <a:rPr lang="en-US" sz="2800" dirty="0"/>
              <a:t>Regression training for the case of two identical features:</a:t>
            </a:r>
            <a:endParaRPr lang="ru-RU" sz="2800" dirty="0"/>
          </a:p>
        </p:txBody>
      </p:sp>
      <p:sp>
        <p:nvSpPr>
          <p:cNvPr id="14" name="TextBox 13">
            <a:extLst>
              <a:ext uri="{FF2B5EF4-FFF2-40B4-BE49-F238E27FC236}">
                <a16:creationId xmlns:a16="http://schemas.microsoft.com/office/drawing/2014/main" id="{2911480D-AABA-C4A0-7790-A39A84012CDC}"/>
              </a:ext>
            </a:extLst>
          </p:cNvPr>
          <p:cNvSpPr txBox="1"/>
          <p:nvPr/>
        </p:nvSpPr>
        <p:spPr>
          <a:xfrm>
            <a:off x="838201" y="3846351"/>
            <a:ext cx="1276349" cy="523220"/>
          </a:xfrm>
          <a:prstGeom prst="rect">
            <a:avLst/>
          </a:prstGeom>
          <a:noFill/>
        </p:spPr>
        <p:txBody>
          <a:bodyPr wrap="square" rtlCol="0">
            <a:spAutoFit/>
          </a:bodyPr>
          <a:lstStyle/>
          <a:p>
            <a:r>
              <a:rPr lang="en-US" sz="2800" dirty="0"/>
              <a:t>Result:</a:t>
            </a:r>
            <a:endParaRPr lang="ru-RU" sz="2800" dirty="0"/>
          </a:p>
        </p:txBody>
      </p:sp>
      <p:pic>
        <p:nvPicPr>
          <p:cNvPr id="17" name="Рисунок 16">
            <a:extLst>
              <a:ext uri="{FF2B5EF4-FFF2-40B4-BE49-F238E27FC236}">
                <a16:creationId xmlns:a16="http://schemas.microsoft.com/office/drawing/2014/main" id="{74FDDA76-2523-7DC6-421E-DFC1F6743C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3575" y="3939678"/>
            <a:ext cx="5162403" cy="401317"/>
          </a:xfrm>
          <a:prstGeom prst="rect">
            <a:avLst/>
          </a:prstGeom>
        </p:spPr>
      </p:pic>
      <p:sp>
        <p:nvSpPr>
          <p:cNvPr id="18" name="TextBox 17">
            <a:extLst>
              <a:ext uri="{FF2B5EF4-FFF2-40B4-BE49-F238E27FC236}">
                <a16:creationId xmlns:a16="http://schemas.microsoft.com/office/drawing/2014/main" id="{62548B0B-2D11-5678-179C-26FD46B4A753}"/>
              </a:ext>
            </a:extLst>
          </p:cNvPr>
          <p:cNvSpPr txBox="1"/>
          <p:nvPr/>
        </p:nvSpPr>
        <p:spPr>
          <a:xfrm>
            <a:off x="838201" y="4530413"/>
            <a:ext cx="5476874" cy="954107"/>
          </a:xfrm>
          <a:prstGeom prst="rect">
            <a:avLst/>
          </a:prstGeom>
          <a:noFill/>
        </p:spPr>
        <p:txBody>
          <a:bodyPr wrap="square" rtlCol="0">
            <a:spAutoFit/>
          </a:bodyPr>
          <a:lstStyle/>
          <a:p>
            <a:r>
              <a:rPr lang="en-US" sz="2800" dirty="0"/>
              <a:t>For two highly correlated, but not identical features:</a:t>
            </a:r>
            <a:endParaRPr lang="ru-RU" sz="2800" dirty="0"/>
          </a:p>
        </p:txBody>
      </p:sp>
      <p:pic>
        <p:nvPicPr>
          <p:cNvPr id="20" name="Рисунок 19">
            <a:extLst>
              <a:ext uri="{FF2B5EF4-FFF2-40B4-BE49-F238E27FC236}">
                <a16:creationId xmlns:a16="http://schemas.microsoft.com/office/drawing/2014/main" id="{BE19466F-3559-516A-9D21-787CBD66E5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347" y="5049990"/>
            <a:ext cx="2700525" cy="401317"/>
          </a:xfrm>
          <a:prstGeom prst="rect">
            <a:avLst/>
          </a:prstGeom>
        </p:spPr>
      </p:pic>
    </p:spTree>
    <p:extLst>
      <p:ext uri="{BB962C8B-B14F-4D97-AF65-F5344CB8AC3E}">
        <p14:creationId xmlns:p14="http://schemas.microsoft.com/office/powerpoint/2010/main" val="3515224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1A666-8FD6-0B87-388B-73679B29295B}"/>
              </a:ext>
            </a:extLst>
          </p:cNvPr>
          <p:cNvSpPr>
            <a:spLocks noGrp="1"/>
          </p:cNvSpPr>
          <p:nvPr>
            <p:ph type="title"/>
          </p:nvPr>
        </p:nvSpPr>
        <p:spPr/>
        <p:txBody>
          <a:bodyPr/>
          <a:lstStyle/>
          <a:p>
            <a:r>
              <a:rPr lang="en-US" dirty="0"/>
              <a:t>Linear Regression with L1 </a:t>
            </a:r>
            <a:r>
              <a:rPr lang="en-US" dirty="0" err="1"/>
              <a:t>regularizer</a:t>
            </a:r>
            <a:endParaRPr lang="ru-RU" dirty="0"/>
          </a:p>
        </p:txBody>
      </p:sp>
      <p:sp>
        <p:nvSpPr>
          <p:cNvPr id="3" name="TextBox 2">
            <a:extLst>
              <a:ext uri="{FF2B5EF4-FFF2-40B4-BE49-F238E27FC236}">
                <a16:creationId xmlns:a16="http://schemas.microsoft.com/office/drawing/2014/main" id="{3DFF9D82-CAC9-CFC7-6BA6-238AC070E09E}"/>
              </a:ext>
            </a:extLst>
          </p:cNvPr>
          <p:cNvSpPr txBox="1"/>
          <p:nvPr/>
        </p:nvSpPr>
        <p:spPr>
          <a:xfrm>
            <a:off x="838201" y="1592572"/>
            <a:ext cx="2019300" cy="523220"/>
          </a:xfrm>
          <a:prstGeom prst="rect">
            <a:avLst/>
          </a:prstGeom>
          <a:noFill/>
        </p:spPr>
        <p:txBody>
          <a:bodyPr wrap="square" rtlCol="0">
            <a:spAutoFit/>
          </a:bodyPr>
          <a:lstStyle/>
          <a:p>
            <a:r>
              <a:rPr lang="en-US" sz="2800" dirty="0"/>
              <a:t>Experiment:</a:t>
            </a:r>
            <a:endParaRPr lang="ru-RU" sz="2800" dirty="0"/>
          </a:p>
        </p:txBody>
      </p:sp>
      <p:pic>
        <p:nvPicPr>
          <p:cNvPr id="4" name="Рисунок 3" descr="Изображение выглядит как типография, Шрифт, каллиграфия, рукописный текст&#10;&#10;Контент, сгенерированный ИИ, может содержать ошибки.">
            <a:extLst>
              <a:ext uri="{FF2B5EF4-FFF2-40B4-BE49-F238E27FC236}">
                <a16:creationId xmlns:a16="http://schemas.microsoft.com/office/drawing/2014/main" id="{CCE80F53-E9FE-1977-C2CB-4951794B7B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091" y="1659247"/>
            <a:ext cx="2161665" cy="401796"/>
          </a:xfrm>
          <a:prstGeom prst="rect">
            <a:avLst/>
          </a:prstGeom>
        </p:spPr>
      </p:pic>
      <p:pic>
        <p:nvPicPr>
          <p:cNvPr id="5" name="Рисунок 4">
            <a:extLst>
              <a:ext uri="{FF2B5EF4-FFF2-40B4-BE49-F238E27FC236}">
                <a16:creationId xmlns:a16="http://schemas.microsoft.com/office/drawing/2014/main" id="{8ECFA8ED-1F35-2F8C-E36E-6C369DD57D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876" y="2197092"/>
            <a:ext cx="3155426" cy="361969"/>
          </a:xfrm>
          <a:prstGeom prst="rect">
            <a:avLst/>
          </a:prstGeom>
        </p:spPr>
      </p:pic>
      <p:pic>
        <p:nvPicPr>
          <p:cNvPr id="7" name="Рисунок 6">
            <a:extLst>
              <a:ext uri="{FF2B5EF4-FFF2-40B4-BE49-F238E27FC236}">
                <a16:creationId xmlns:a16="http://schemas.microsoft.com/office/drawing/2014/main" id="{B010DCDA-4891-3145-EE2A-08D16F3AF4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9876" y="2699050"/>
            <a:ext cx="3615939" cy="444200"/>
          </a:xfrm>
          <a:prstGeom prst="rect">
            <a:avLst/>
          </a:prstGeom>
        </p:spPr>
      </p:pic>
      <p:sp>
        <p:nvSpPr>
          <p:cNvPr id="8" name="TextBox 7">
            <a:extLst>
              <a:ext uri="{FF2B5EF4-FFF2-40B4-BE49-F238E27FC236}">
                <a16:creationId xmlns:a16="http://schemas.microsoft.com/office/drawing/2014/main" id="{D9012DF3-3E4A-F5D7-231F-9B54000BCCED}"/>
              </a:ext>
            </a:extLst>
          </p:cNvPr>
          <p:cNvSpPr txBox="1"/>
          <p:nvPr/>
        </p:nvSpPr>
        <p:spPr>
          <a:xfrm>
            <a:off x="5003756" y="1594973"/>
            <a:ext cx="3886200" cy="523220"/>
          </a:xfrm>
          <a:prstGeom prst="rect">
            <a:avLst/>
          </a:prstGeom>
          <a:noFill/>
        </p:spPr>
        <p:txBody>
          <a:bodyPr wrap="square" rtlCol="0">
            <a:spAutoFit/>
          </a:bodyPr>
          <a:lstStyle/>
          <a:p>
            <a:r>
              <a:rPr lang="en-US" sz="2800" dirty="0"/>
              <a:t>- independent features</a:t>
            </a:r>
            <a:endParaRPr lang="ru-RU" sz="2800" dirty="0"/>
          </a:p>
        </p:txBody>
      </p:sp>
      <p:sp>
        <p:nvSpPr>
          <p:cNvPr id="10" name="TextBox 9">
            <a:extLst>
              <a:ext uri="{FF2B5EF4-FFF2-40B4-BE49-F238E27FC236}">
                <a16:creationId xmlns:a16="http://schemas.microsoft.com/office/drawing/2014/main" id="{D4DE3E13-DAE5-E6DE-F3EF-44FF7A4ADC35}"/>
              </a:ext>
            </a:extLst>
          </p:cNvPr>
          <p:cNvSpPr txBox="1"/>
          <p:nvPr/>
        </p:nvSpPr>
        <p:spPr>
          <a:xfrm>
            <a:off x="5955777" y="2070568"/>
            <a:ext cx="3886200" cy="523220"/>
          </a:xfrm>
          <a:prstGeom prst="rect">
            <a:avLst/>
          </a:prstGeom>
          <a:noFill/>
        </p:spPr>
        <p:txBody>
          <a:bodyPr wrap="square" rtlCol="0">
            <a:spAutoFit/>
          </a:bodyPr>
          <a:lstStyle/>
          <a:p>
            <a:r>
              <a:rPr lang="en-US" sz="2800" dirty="0"/>
              <a:t>- correlated features</a:t>
            </a:r>
            <a:endParaRPr lang="ru-RU" sz="2800" dirty="0"/>
          </a:p>
        </p:txBody>
      </p:sp>
      <p:sp>
        <p:nvSpPr>
          <p:cNvPr id="12" name="TextBox 11">
            <a:extLst>
              <a:ext uri="{FF2B5EF4-FFF2-40B4-BE49-F238E27FC236}">
                <a16:creationId xmlns:a16="http://schemas.microsoft.com/office/drawing/2014/main" id="{C63A97C5-D402-DD68-931A-22AA1B28C8A2}"/>
              </a:ext>
            </a:extLst>
          </p:cNvPr>
          <p:cNvSpPr txBox="1"/>
          <p:nvPr/>
        </p:nvSpPr>
        <p:spPr>
          <a:xfrm>
            <a:off x="6460602" y="2630351"/>
            <a:ext cx="2292873" cy="523220"/>
          </a:xfrm>
          <a:prstGeom prst="rect">
            <a:avLst/>
          </a:prstGeom>
          <a:noFill/>
        </p:spPr>
        <p:txBody>
          <a:bodyPr wrap="square" rtlCol="0">
            <a:spAutoFit/>
          </a:bodyPr>
          <a:lstStyle/>
          <a:p>
            <a:r>
              <a:rPr lang="en-US" sz="2800" dirty="0"/>
              <a:t>- target value</a:t>
            </a:r>
            <a:endParaRPr lang="ru-RU" sz="2800" dirty="0"/>
          </a:p>
        </p:txBody>
      </p:sp>
      <p:pic>
        <p:nvPicPr>
          <p:cNvPr id="15" name="Рисунок 14" descr="Изображение выглядит как текст, снимок экрана, Прямоугольник, диаграмма&#10;&#10;Контент, сгенерированный ИИ, может содержать ошибки.">
            <a:extLst>
              <a:ext uri="{FF2B5EF4-FFF2-40B4-BE49-F238E27FC236}">
                <a16:creationId xmlns:a16="http://schemas.microsoft.com/office/drawing/2014/main" id="{99EDD3F8-FE84-10E3-B6B1-C70B9B0ECA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2208" y="3348041"/>
            <a:ext cx="4422576" cy="3257550"/>
          </a:xfrm>
          <a:prstGeom prst="rect">
            <a:avLst/>
          </a:prstGeom>
        </p:spPr>
      </p:pic>
      <p:pic>
        <p:nvPicPr>
          <p:cNvPr id="19" name="Рисунок 18" descr="Изображение выглядит как текст, Шрифт, снимок экрана, чек&#10;&#10;Контент, сгенерированный ИИ, может содержать ошибки.">
            <a:extLst>
              <a:ext uri="{FF2B5EF4-FFF2-40B4-BE49-F238E27FC236}">
                <a16:creationId xmlns:a16="http://schemas.microsoft.com/office/drawing/2014/main" id="{EC3A5C57-06E4-F128-5C4D-003F57122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354" y="3523500"/>
            <a:ext cx="6622419" cy="1684778"/>
          </a:xfrm>
          <a:prstGeom prst="rect">
            <a:avLst/>
          </a:prstGeom>
        </p:spPr>
      </p:pic>
    </p:spTree>
    <p:extLst>
      <p:ext uri="{BB962C8B-B14F-4D97-AF65-F5344CB8AC3E}">
        <p14:creationId xmlns:p14="http://schemas.microsoft.com/office/powerpoint/2010/main" val="2319901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1A666-8FD6-0B87-388B-73679B29295B}"/>
              </a:ext>
            </a:extLst>
          </p:cNvPr>
          <p:cNvSpPr>
            <a:spLocks noGrp="1"/>
          </p:cNvSpPr>
          <p:nvPr>
            <p:ph type="title"/>
          </p:nvPr>
        </p:nvSpPr>
        <p:spPr/>
        <p:txBody>
          <a:bodyPr/>
          <a:lstStyle/>
          <a:p>
            <a:r>
              <a:rPr lang="en-US" dirty="0"/>
              <a:t>Linear Regression with L1 </a:t>
            </a:r>
            <a:r>
              <a:rPr lang="en-US" dirty="0" err="1"/>
              <a:t>regularizer</a:t>
            </a:r>
            <a:endParaRPr lang="ru-RU" dirty="0"/>
          </a:p>
        </p:txBody>
      </p:sp>
      <p:sp>
        <p:nvSpPr>
          <p:cNvPr id="6" name="TextBox 5">
            <a:extLst>
              <a:ext uri="{FF2B5EF4-FFF2-40B4-BE49-F238E27FC236}">
                <a16:creationId xmlns:a16="http://schemas.microsoft.com/office/drawing/2014/main" id="{6CD52045-685A-4584-FD35-61999627C628}"/>
              </a:ext>
            </a:extLst>
          </p:cNvPr>
          <p:cNvSpPr txBox="1"/>
          <p:nvPr/>
        </p:nvSpPr>
        <p:spPr>
          <a:xfrm>
            <a:off x="838200" y="1592572"/>
            <a:ext cx="9258299" cy="2246769"/>
          </a:xfrm>
          <a:prstGeom prst="rect">
            <a:avLst/>
          </a:prstGeom>
          <a:noFill/>
        </p:spPr>
        <p:txBody>
          <a:bodyPr wrap="square" rtlCol="0">
            <a:spAutoFit/>
          </a:bodyPr>
          <a:lstStyle/>
          <a:p>
            <a:r>
              <a:rPr lang="en-US" sz="2800" dirty="0"/>
              <a:t>Properties: </a:t>
            </a:r>
          </a:p>
          <a:p>
            <a:pPr marL="514350" indent="-514350">
              <a:buAutoNum type="arabicParenR"/>
            </a:pPr>
            <a:r>
              <a:rPr lang="en-US" sz="2800" dirty="0"/>
              <a:t>among several important but correlated features choose only one and zero weights for the others</a:t>
            </a:r>
          </a:p>
          <a:p>
            <a:pPr marL="514350" indent="-514350">
              <a:buAutoNum type="arabicParenR"/>
            </a:pPr>
            <a:r>
              <a:rPr lang="en-US" sz="2800" dirty="0"/>
              <a:t>when number of features exceeds number of objects, e.g. </a:t>
            </a:r>
            <a:r>
              <a:rPr lang="de-DE" sz="2800" dirty="0"/>
              <a:t>D </a:t>
            </a:r>
            <a:r>
              <a:rPr lang="en-US" sz="2800" dirty="0"/>
              <a:t>&gt; N, can find maximum N non-zero weights</a:t>
            </a:r>
            <a:endParaRPr lang="ru-RU" sz="2800" dirty="0"/>
          </a:p>
        </p:txBody>
      </p:sp>
    </p:spTree>
    <p:extLst>
      <p:ext uri="{BB962C8B-B14F-4D97-AF65-F5344CB8AC3E}">
        <p14:creationId xmlns:p14="http://schemas.microsoft.com/office/powerpoint/2010/main" val="563883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56C59E-53DC-C048-A47D-CF084612D5EB}"/>
              </a:ext>
            </a:extLst>
          </p:cNvPr>
          <p:cNvSpPr>
            <a:spLocks noGrp="1"/>
          </p:cNvSpPr>
          <p:nvPr>
            <p:ph type="title"/>
          </p:nvPr>
        </p:nvSpPr>
        <p:spPr/>
        <p:txBody>
          <a:bodyPr/>
          <a:lstStyle/>
          <a:p>
            <a:r>
              <a:rPr lang="en-US" dirty="0"/>
              <a:t>Feature Importance in Decision Trees</a:t>
            </a:r>
            <a:endParaRPr lang="ru-RU" dirty="0"/>
          </a:p>
        </p:txBody>
      </p:sp>
      <p:pic>
        <p:nvPicPr>
          <p:cNvPr id="5" name="Рисунок 4">
            <a:extLst>
              <a:ext uri="{FF2B5EF4-FFF2-40B4-BE49-F238E27FC236}">
                <a16:creationId xmlns:a16="http://schemas.microsoft.com/office/drawing/2014/main" id="{8DF2F171-0194-9290-BFA0-007A79E68C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15495" y="1676277"/>
            <a:ext cx="3419000" cy="2534211"/>
          </a:xfrm>
          <a:prstGeom prst="rect">
            <a:avLst/>
          </a:prstGeom>
        </p:spPr>
      </p:pic>
      <p:sp>
        <p:nvSpPr>
          <p:cNvPr id="6" name="TextBox 5">
            <a:extLst>
              <a:ext uri="{FF2B5EF4-FFF2-40B4-BE49-F238E27FC236}">
                <a16:creationId xmlns:a16="http://schemas.microsoft.com/office/drawing/2014/main" id="{DEA133AC-1752-8FEC-48E0-7CC6B1706B96}"/>
              </a:ext>
            </a:extLst>
          </p:cNvPr>
          <p:cNvSpPr txBox="1"/>
          <p:nvPr/>
        </p:nvSpPr>
        <p:spPr>
          <a:xfrm>
            <a:off x="306572" y="1520564"/>
            <a:ext cx="6043770" cy="523220"/>
          </a:xfrm>
          <a:prstGeom prst="rect">
            <a:avLst/>
          </a:prstGeom>
          <a:noFill/>
        </p:spPr>
        <p:txBody>
          <a:bodyPr wrap="none" rtlCol="0">
            <a:spAutoFit/>
          </a:bodyPr>
          <a:lstStyle/>
          <a:p>
            <a:r>
              <a:rPr lang="en-US" sz="2800" b="1" dirty="0"/>
              <a:t>MDI</a:t>
            </a:r>
            <a:r>
              <a:rPr lang="en-US" sz="2800" dirty="0"/>
              <a:t> (Mean Decrease Impurity measure)</a:t>
            </a:r>
            <a:endParaRPr lang="ru-RU" sz="2800" dirty="0"/>
          </a:p>
        </p:txBody>
      </p:sp>
      <p:sp>
        <p:nvSpPr>
          <p:cNvPr id="7" name="TextBox 6">
            <a:extLst>
              <a:ext uri="{FF2B5EF4-FFF2-40B4-BE49-F238E27FC236}">
                <a16:creationId xmlns:a16="http://schemas.microsoft.com/office/drawing/2014/main" id="{6F066C37-5827-9038-09E4-BC1B35FF994A}"/>
              </a:ext>
            </a:extLst>
          </p:cNvPr>
          <p:cNvSpPr txBox="1"/>
          <p:nvPr/>
        </p:nvSpPr>
        <p:spPr>
          <a:xfrm>
            <a:off x="306572" y="2132934"/>
            <a:ext cx="8518451" cy="2246769"/>
          </a:xfrm>
          <a:prstGeom prst="rect">
            <a:avLst/>
          </a:prstGeom>
          <a:noFill/>
        </p:spPr>
        <p:txBody>
          <a:bodyPr wrap="square" rtlCol="0">
            <a:spAutoFit/>
          </a:bodyPr>
          <a:lstStyle/>
          <a:p>
            <a:pPr algn="l">
              <a:buFont typeface="+mj-lt"/>
              <a:buAutoNum type="arabicPeriod"/>
            </a:pPr>
            <a:r>
              <a:rPr lang="en-US" sz="2800" dirty="0"/>
              <a:t> </a:t>
            </a:r>
            <a:r>
              <a:rPr lang="en-US" sz="2800" b="0" i="0" dirty="0">
                <a:effectLst/>
              </a:rPr>
              <a:t>For each node of the tree, compute the impurity decrease of the node on a specific feature.</a:t>
            </a:r>
          </a:p>
          <a:p>
            <a:pPr algn="l">
              <a:buFont typeface="+mj-lt"/>
              <a:buAutoNum type="arabicPeriod"/>
            </a:pPr>
            <a:r>
              <a:rPr lang="en-US" sz="2800" b="0" i="0" dirty="0">
                <a:effectLst/>
              </a:rPr>
              <a:t> Compute the weighted sum of the impurity decreases with weights proportional to number of objects in that node.</a:t>
            </a:r>
            <a:endParaRPr lang="ru-RU" sz="2800" dirty="0"/>
          </a:p>
        </p:txBody>
      </p:sp>
      <p:sp>
        <p:nvSpPr>
          <p:cNvPr id="8" name="TextBox 7">
            <a:extLst>
              <a:ext uri="{FF2B5EF4-FFF2-40B4-BE49-F238E27FC236}">
                <a16:creationId xmlns:a16="http://schemas.microsoft.com/office/drawing/2014/main" id="{2FA4A213-EA10-A8F3-B3AE-4EA64C118540}"/>
              </a:ext>
            </a:extLst>
          </p:cNvPr>
          <p:cNvSpPr txBox="1"/>
          <p:nvPr/>
        </p:nvSpPr>
        <p:spPr>
          <a:xfrm>
            <a:off x="306572" y="4889666"/>
            <a:ext cx="11463670" cy="1815882"/>
          </a:xfrm>
          <a:prstGeom prst="rect">
            <a:avLst/>
          </a:prstGeom>
          <a:noFill/>
        </p:spPr>
        <p:txBody>
          <a:bodyPr wrap="square" rtlCol="0">
            <a:spAutoFit/>
          </a:bodyPr>
          <a:lstStyle/>
          <a:p>
            <a:r>
              <a:rPr lang="en-US" sz="2800" dirty="0"/>
              <a:t>Advantage: MDI can be computed for free during DT training</a:t>
            </a:r>
          </a:p>
          <a:p>
            <a:r>
              <a:rPr lang="en-US" sz="2800" dirty="0"/>
              <a:t>Disadvantage: MDI can favor numerical features and categorical features with many values. Also, MDI is computed on the training set.</a:t>
            </a:r>
          </a:p>
          <a:p>
            <a:r>
              <a:rPr lang="en-US" sz="2800" dirty="0"/>
              <a:t>Alternative: Permutation Feature Importance.</a:t>
            </a:r>
            <a:endParaRPr lang="ru-RU" sz="2800" dirty="0"/>
          </a:p>
        </p:txBody>
      </p:sp>
    </p:spTree>
    <p:extLst>
      <p:ext uri="{BB962C8B-B14F-4D97-AF65-F5344CB8AC3E}">
        <p14:creationId xmlns:p14="http://schemas.microsoft.com/office/powerpoint/2010/main" val="2780061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94501A-DD39-5776-0BF0-E023AFAF89AE}"/>
              </a:ext>
            </a:extLst>
          </p:cNvPr>
          <p:cNvSpPr>
            <a:spLocks noGrp="1"/>
          </p:cNvSpPr>
          <p:nvPr>
            <p:ph type="title"/>
          </p:nvPr>
        </p:nvSpPr>
        <p:spPr/>
        <p:txBody>
          <a:bodyPr/>
          <a:lstStyle/>
          <a:p>
            <a:r>
              <a:rPr lang="en-US" dirty="0"/>
              <a:t>Permutation Feature Importance</a:t>
            </a:r>
            <a:endParaRPr lang="ru-RU" dirty="0"/>
          </a:p>
        </p:txBody>
      </p:sp>
      <p:sp>
        <p:nvSpPr>
          <p:cNvPr id="4" name="TextBox 3">
            <a:extLst>
              <a:ext uri="{FF2B5EF4-FFF2-40B4-BE49-F238E27FC236}">
                <a16:creationId xmlns:a16="http://schemas.microsoft.com/office/drawing/2014/main" id="{CB82E4EE-EE49-3A7B-68FA-AA8C1B8C9A22}"/>
              </a:ext>
            </a:extLst>
          </p:cNvPr>
          <p:cNvSpPr txBox="1"/>
          <p:nvPr/>
        </p:nvSpPr>
        <p:spPr>
          <a:xfrm>
            <a:off x="838200" y="1778120"/>
            <a:ext cx="11134061" cy="3816429"/>
          </a:xfrm>
          <a:prstGeom prst="rect">
            <a:avLst/>
          </a:prstGeom>
          <a:noFill/>
        </p:spPr>
        <p:txBody>
          <a:bodyPr wrap="square" rtlCol="0">
            <a:spAutoFit/>
          </a:bodyPr>
          <a:lstStyle/>
          <a:p>
            <a:pPr marL="285750" indent="-285750">
              <a:buFont typeface="Arial" panose="020B0604020202020204" pitchFamily="34" charset="0"/>
              <a:buChar char="•"/>
            </a:pPr>
            <a:r>
              <a:rPr lang="en-US" sz="2800" b="0" i="0" dirty="0">
                <a:solidFill>
                  <a:srgbClr val="222832"/>
                </a:solidFill>
                <a:effectLst/>
              </a:rPr>
              <a:t>Compute model’s performance </a:t>
            </a:r>
            <a:r>
              <a:rPr lang="en-US" sz="2800" b="0" i="1" dirty="0">
                <a:solidFill>
                  <a:srgbClr val="222832"/>
                </a:solidFill>
                <a:effectLst/>
              </a:rPr>
              <a:t>s</a:t>
            </a:r>
            <a:r>
              <a:rPr lang="en-US" sz="2800" b="0" i="0" dirty="0">
                <a:solidFill>
                  <a:srgbClr val="222832"/>
                </a:solidFill>
                <a:effectLst/>
              </a:rPr>
              <a:t> on control dataset </a:t>
            </a:r>
            <a:r>
              <a:rPr lang="en-US" sz="2800" b="0" i="1" dirty="0">
                <a:solidFill>
                  <a:srgbClr val="222832"/>
                </a:solidFill>
                <a:effectLst/>
              </a:rPr>
              <a:t>D</a:t>
            </a:r>
          </a:p>
          <a:p>
            <a:pPr marL="285750" indent="-285750">
              <a:buFont typeface="Arial" panose="020B0604020202020204" pitchFamily="34" charset="0"/>
              <a:buChar char="•"/>
            </a:pPr>
            <a:r>
              <a:rPr lang="en-US" sz="2800" b="0" i="0" dirty="0">
                <a:solidFill>
                  <a:srgbClr val="222832"/>
                </a:solidFill>
                <a:effectLst/>
              </a:rPr>
              <a:t>For each feature </a:t>
            </a:r>
            <a:r>
              <a:rPr lang="en-US" sz="2800" b="0" i="1" dirty="0">
                <a:solidFill>
                  <a:srgbClr val="222832"/>
                </a:solidFill>
                <a:effectLst/>
              </a:rPr>
              <a:t>j</a:t>
            </a:r>
            <a:r>
              <a:rPr lang="en-US" sz="2800" b="0" i="0" dirty="0">
                <a:solidFill>
                  <a:srgbClr val="222832"/>
                </a:solidFill>
                <a:effectLst/>
              </a:rPr>
              <a:t>:</a:t>
            </a:r>
          </a:p>
          <a:p>
            <a:pPr marL="742950" lvl="1" indent="-285750" algn="l">
              <a:buFont typeface="Arial" panose="020B0604020202020204" pitchFamily="34" charset="0"/>
              <a:buChar char="•"/>
            </a:pPr>
            <a:r>
              <a:rPr lang="en-US" sz="2800" b="0" i="0" dirty="0">
                <a:solidFill>
                  <a:srgbClr val="222832"/>
                </a:solidFill>
                <a:effectLst/>
              </a:rPr>
              <a:t>For each repetition </a:t>
            </a:r>
            <a:r>
              <a:rPr lang="en-US" sz="2800" b="0" i="1" dirty="0">
                <a:solidFill>
                  <a:srgbClr val="222832"/>
                </a:solidFill>
                <a:effectLst/>
              </a:rPr>
              <a:t>k</a:t>
            </a:r>
            <a:r>
              <a:rPr lang="en-US" sz="2800" b="0" i="0" dirty="0">
                <a:solidFill>
                  <a:srgbClr val="222832"/>
                </a:solidFill>
                <a:effectLst/>
              </a:rPr>
              <a:t> in 1,...,</a:t>
            </a:r>
            <a:r>
              <a:rPr lang="en-US" sz="2800" b="0" i="1" dirty="0">
                <a:solidFill>
                  <a:srgbClr val="222832"/>
                </a:solidFill>
                <a:effectLst/>
              </a:rPr>
              <a:t>K</a:t>
            </a:r>
            <a:r>
              <a:rPr lang="en-US" sz="2800" b="0" i="0" dirty="0">
                <a:solidFill>
                  <a:srgbClr val="222832"/>
                </a:solidFill>
                <a:effectLst/>
              </a:rPr>
              <a:t>:</a:t>
            </a:r>
          </a:p>
          <a:p>
            <a:pPr marL="1143000" lvl="2" indent="-228600" algn="l">
              <a:buFont typeface="Arial" panose="020B0604020202020204" pitchFamily="34" charset="0"/>
              <a:buChar char="•"/>
            </a:pPr>
            <a:r>
              <a:rPr lang="en-US" sz="2800" b="0" i="0" dirty="0">
                <a:solidFill>
                  <a:srgbClr val="222832"/>
                </a:solidFill>
                <a:effectLst/>
              </a:rPr>
              <a:t>Randomly shuffle column </a:t>
            </a:r>
            <a:r>
              <a:rPr lang="en-US" sz="2800" b="0" i="1" dirty="0">
                <a:solidFill>
                  <a:srgbClr val="222832"/>
                </a:solidFill>
                <a:effectLst/>
              </a:rPr>
              <a:t>j</a:t>
            </a:r>
            <a:r>
              <a:rPr lang="en-US" sz="2800" b="0" i="0" dirty="0">
                <a:solidFill>
                  <a:srgbClr val="222832"/>
                </a:solidFill>
                <a:effectLst/>
              </a:rPr>
              <a:t> of dataset </a:t>
            </a:r>
            <a:r>
              <a:rPr lang="en-US" sz="2800" b="0" i="1" dirty="0">
                <a:solidFill>
                  <a:srgbClr val="222832"/>
                </a:solidFill>
                <a:effectLst/>
              </a:rPr>
              <a:t>D</a:t>
            </a:r>
            <a:r>
              <a:rPr lang="en-US" sz="2800" b="0" i="0" dirty="0">
                <a:solidFill>
                  <a:srgbClr val="222832"/>
                </a:solidFill>
                <a:effectLst/>
              </a:rPr>
              <a:t> to generate a corrupted version of the data</a:t>
            </a:r>
          </a:p>
          <a:p>
            <a:pPr marL="1143000" lvl="2" indent="-228600" algn="l">
              <a:buFont typeface="Arial" panose="020B0604020202020204" pitchFamily="34" charset="0"/>
              <a:buChar char="•"/>
            </a:pPr>
            <a:r>
              <a:rPr lang="en-US" sz="2800" b="0" i="0" dirty="0">
                <a:solidFill>
                  <a:srgbClr val="222832"/>
                </a:solidFill>
                <a:effectLst/>
              </a:rPr>
              <a:t>Compute model’s performance       on corrupted data</a:t>
            </a:r>
          </a:p>
          <a:p>
            <a:pPr marL="685800" lvl="1" indent="-228600">
              <a:buFont typeface="Arial" panose="020B0604020202020204" pitchFamily="34" charset="0"/>
              <a:buChar char="•"/>
            </a:pPr>
            <a:r>
              <a:rPr lang="en-US" sz="2800" b="0" i="0" dirty="0">
                <a:solidFill>
                  <a:srgbClr val="222832"/>
                </a:solidFill>
                <a:effectLst/>
              </a:rPr>
              <a:t>Compute feature importance:</a:t>
            </a:r>
          </a:p>
          <a:p>
            <a:pPr>
              <a:buNone/>
            </a:pPr>
            <a:br>
              <a:rPr lang="en-US" dirty="0"/>
            </a:br>
            <a:endParaRPr lang="ru-RU" sz="2800" i="1" dirty="0"/>
          </a:p>
        </p:txBody>
      </p:sp>
      <p:pic>
        <p:nvPicPr>
          <p:cNvPr id="6" name="Рисунок 5">
            <a:extLst>
              <a:ext uri="{FF2B5EF4-FFF2-40B4-BE49-F238E27FC236}">
                <a16:creationId xmlns:a16="http://schemas.microsoft.com/office/drawing/2014/main" id="{431B73D6-53DC-65D4-834D-64D538C81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7621" y="3590266"/>
            <a:ext cx="534263" cy="386313"/>
          </a:xfrm>
          <a:prstGeom prst="rect">
            <a:avLst/>
          </a:prstGeom>
        </p:spPr>
      </p:pic>
      <p:pic>
        <p:nvPicPr>
          <p:cNvPr id="8" name="Рисунок 7">
            <a:extLst>
              <a:ext uri="{FF2B5EF4-FFF2-40B4-BE49-F238E27FC236}">
                <a16:creationId xmlns:a16="http://schemas.microsoft.com/office/drawing/2014/main" id="{AF6414D1-6160-ADA6-5D79-9343D8381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8516" y="3995191"/>
            <a:ext cx="534262" cy="452764"/>
          </a:xfrm>
          <a:prstGeom prst="rect">
            <a:avLst/>
          </a:prstGeom>
        </p:spPr>
      </p:pic>
      <p:pic>
        <p:nvPicPr>
          <p:cNvPr id="10" name="Рисунок 9">
            <a:extLst>
              <a:ext uri="{FF2B5EF4-FFF2-40B4-BE49-F238E27FC236}">
                <a16:creationId xmlns:a16="http://schemas.microsoft.com/office/drawing/2014/main" id="{97BEA74D-4C59-0F70-72C6-8BF2D129FB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4634" y="4966102"/>
            <a:ext cx="2525152" cy="1073190"/>
          </a:xfrm>
          <a:prstGeom prst="rect">
            <a:avLst/>
          </a:prstGeom>
        </p:spPr>
      </p:pic>
      <p:pic>
        <p:nvPicPr>
          <p:cNvPr id="11" name="Рисунок 10">
            <a:extLst>
              <a:ext uri="{FF2B5EF4-FFF2-40B4-BE49-F238E27FC236}">
                <a16:creationId xmlns:a16="http://schemas.microsoft.com/office/drawing/2014/main" id="{0E87CBD9-D3DE-2E8C-B144-AE040009F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154" y="4019110"/>
            <a:ext cx="534263" cy="386313"/>
          </a:xfrm>
          <a:prstGeom prst="rect">
            <a:avLst/>
          </a:prstGeom>
        </p:spPr>
      </p:pic>
    </p:spTree>
    <p:extLst>
      <p:ext uri="{BB962C8B-B14F-4D97-AF65-F5344CB8AC3E}">
        <p14:creationId xmlns:p14="http://schemas.microsoft.com/office/powerpoint/2010/main" val="1267975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107974-5C0F-CBD6-8C21-DD8F15D55BDA}"/>
              </a:ext>
            </a:extLst>
          </p:cNvPr>
          <p:cNvSpPr>
            <a:spLocks noGrp="1"/>
          </p:cNvSpPr>
          <p:nvPr>
            <p:ph type="title"/>
          </p:nvPr>
        </p:nvSpPr>
        <p:spPr/>
        <p:txBody>
          <a:bodyPr/>
          <a:lstStyle/>
          <a:p>
            <a:r>
              <a:rPr lang="en-US" dirty="0"/>
              <a:t>SHAP (</a:t>
            </a:r>
            <a:r>
              <a:rPr lang="en-US" dirty="0" err="1"/>
              <a:t>SHapley</a:t>
            </a:r>
            <a:r>
              <a:rPr lang="en-US" dirty="0"/>
              <a:t> Additive</a:t>
            </a:r>
            <a:r>
              <a:rPr lang="ru-RU" dirty="0"/>
              <a:t> </a:t>
            </a:r>
            <a:r>
              <a:rPr lang="en-US" dirty="0" err="1"/>
              <a:t>exPlanation</a:t>
            </a:r>
            <a:r>
              <a:rPr lang="en-US" dirty="0"/>
              <a:t>)</a:t>
            </a:r>
            <a:endParaRPr lang="ru-RU" dirty="0"/>
          </a:p>
        </p:txBody>
      </p:sp>
      <p:pic>
        <p:nvPicPr>
          <p:cNvPr id="5" name="Рисунок 4">
            <a:extLst>
              <a:ext uri="{FF2B5EF4-FFF2-40B4-BE49-F238E27FC236}">
                <a16:creationId xmlns:a16="http://schemas.microsoft.com/office/drawing/2014/main" id="{A49F90E9-7656-EA21-4B0B-5DF1003A8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091" y="2812395"/>
            <a:ext cx="7466063" cy="1067781"/>
          </a:xfrm>
          <a:prstGeom prst="rect">
            <a:avLst/>
          </a:prstGeom>
        </p:spPr>
      </p:pic>
      <p:pic>
        <p:nvPicPr>
          <p:cNvPr id="7" name="Рисунок 6">
            <a:extLst>
              <a:ext uri="{FF2B5EF4-FFF2-40B4-BE49-F238E27FC236}">
                <a16:creationId xmlns:a16="http://schemas.microsoft.com/office/drawing/2014/main" id="{0871888B-FC14-3D00-6495-83FF4CCB0C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104" y="1519229"/>
            <a:ext cx="746186" cy="479692"/>
          </a:xfrm>
          <a:prstGeom prst="rect">
            <a:avLst/>
          </a:prstGeom>
        </p:spPr>
      </p:pic>
      <p:sp>
        <p:nvSpPr>
          <p:cNvPr id="8" name="TextBox 7">
            <a:extLst>
              <a:ext uri="{FF2B5EF4-FFF2-40B4-BE49-F238E27FC236}">
                <a16:creationId xmlns:a16="http://schemas.microsoft.com/office/drawing/2014/main" id="{5D8C2179-6223-4F2F-95CF-9B2E0CC06727}"/>
              </a:ext>
            </a:extLst>
          </p:cNvPr>
          <p:cNvSpPr txBox="1"/>
          <p:nvPr/>
        </p:nvSpPr>
        <p:spPr>
          <a:xfrm>
            <a:off x="1805757" y="1486832"/>
            <a:ext cx="4095307" cy="523220"/>
          </a:xfrm>
          <a:prstGeom prst="rect">
            <a:avLst/>
          </a:prstGeom>
          <a:noFill/>
        </p:spPr>
        <p:txBody>
          <a:bodyPr wrap="square" rtlCol="0">
            <a:spAutoFit/>
          </a:bodyPr>
          <a:lstStyle/>
          <a:p>
            <a:r>
              <a:rPr lang="en-US" sz="2800" dirty="0"/>
              <a:t>- trained regression model</a:t>
            </a:r>
            <a:endParaRPr lang="ru-RU" sz="2800" dirty="0"/>
          </a:p>
        </p:txBody>
      </p:sp>
      <p:sp>
        <p:nvSpPr>
          <p:cNvPr id="9" name="TextBox 8">
            <a:extLst>
              <a:ext uri="{FF2B5EF4-FFF2-40B4-BE49-F238E27FC236}">
                <a16:creationId xmlns:a16="http://schemas.microsoft.com/office/drawing/2014/main" id="{4E4A42FB-22A6-AB20-5EA1-8014624DE5FD}"/>
              </a:ext>
            </a:extLst>
          </p:cNvPr>
          <p:cNvSpPr txBox="1"/>
          <p:nvPr/>
        </p:nvSpPr>
        <p:spPr>
          <a:xfrm>
            <a:off x="1002104" y="2268407"/>
            <a:ext cx="5590082" cy="523220"/>
          </a:xfrm>
          <a:prstGeom prst="rect">
            <a:avLst/>
          </a:prstGeom>
          <a:noFill/>
        </p:spPr>
        <p:txBody>
          <a:bodyPr wrap="square" rtlCol="0">
            <a:spAutoFit/>
          </a:bodyPr>
          <a:lstStyle/>
          <a:p>
            <a:r>
              <a:rPr lang="en-US" sz="2800" dirty="0"/>
              <a:t>Importance of feature </a:t>
            </a:r>
            <a:r>
              <a:rPr lang="en-US" sz="2800" i="1" dirty="0"/>
              <a:t>j</a:t>
            </a:r>
            <a:r>
              <a:rPr lang="en-US" sz="2800" dirty="0"/>
              <a:t> for object </a:t>
            </a:r>
            <a:r>
              <a:rPr lang="en-US" sz="2800" b="1" dirty="0"/>
              <a:t>x</a:t>
            </a:r>
            <a:r>
              <a:rPr lang="en-US" sz="2800" dirty="0"/>
              <a:t>:</a:t>
            </a:r>
            <a:endParaRPr lang="ru-RU" sz="2800" dirty="0"/>
          </a:p>
        </p:txBody>
      </p:sp>
      <p:pic>
        <p:nvPicPr>
          <p:cNvPr id="11" name="Рисунок 10">
            <a:extLst>
              <a:ext uri="{FF2B5EF4-FFF2-40B4-BE49-F238E27FC236}">
                <a16:creationId xmlns:a16="http://schemas.microsoft.com/office/drawing/2014/main" id="{09684A1D-A880-4876-2DAA-0B13DA6BDE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8527" y="4107887"/>
            <a:ext cx="346847" cy="440589"/>
          </a:xfrm>
          <a:prstGeom prst="rect">
            <a:avLst/>
          </a:prstGeom>
        </p:spPr>
      </p:pic>
      <p:sp>
        <p:nvSpPr>
          <p:cNvPr id="12" name="TextBox 11">
            <a:extLst>
              <a:ext uri="{FF2B5EF4-FFF2-40B4-BE49-F238E27FC236}">
                <a16:creationId xmlns:a16="http://schemas.microsoft.com/office/drawing/2014/main" id="{3196E8B8-6AAA-4361-590D-B8CC78714B99}"/>
              </a:ext>
            </a:extLst>
          </p:cNvPr>
          <p:cNvSpPr txBox="1"/>
          <p:nvPr/>
        </p:nvSpPr>
        <p:spPr>
          <a:xfrm>
            <a:off x="2819396" y="4066572"/>
            <a:ext cx="5474001" cy="523220"/>
          </a:xfrm>
          <a:prstGeom prst="rect">
            <a:avLst/>
          </a:prstGeom>
          <a:noFill/>
        </p:spPr>
        <p:txBody>
          <a:bodyPr wrap="square" rtlCol="0">
            <a:spAutoFit/>
          </a:bodyPr>
          <a:lstStyle/>
          <a:p>
            <a:r>
              <a:rPr lang="en-US" sz="2800" dirty="0"/>
              <a:t>- coalition (some subset of features)</a:t>
            </a:r>
            <a:endParaRPr lang="ru-RU" sz="2800" dirty="0"/>
          </a:p>
        </p:txBody>
      </p:sp>
    </p:spTree>
    <p:extLst>
      <p:ext uri="{BB962C8B-B14F-4D97-AF65-F5344CB8AC3E}">
        <p14:creationId xmlns:p14="http://schemas.microsoft.com/office/powerpoint/2010/main" val="3351076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E1C83-D9D9-839B-FFC3-A2C2DA396E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E2C234-DA4B-B2A2-AA0F-3FD6264CD2F2}"/>
              </a:ext>
            </a:extLst>
          </p:cNvPr>
          <p:cNvSpPr>
            <a:spLocks noGrp="1"/>
          </p:cNvSpPr>
          <p:nvPr>
            <p:ph type="title"/>
          </p:nvPr>
        </p:nvSpPr>
        <p:spPr/>
        <p:txBody>
          <a:bodyPr/>
          <a:lstStyle/>
          <a:p>
            <a:r>
              <a:rPr lang="en-US" dirty="0"/>
              <a:t>SHAP (</a:t>
            </a:r>
            <a:r>
              <a:rPr lang="en-US" dirty="0" err="1"/>
              <a:t>SHapley</a:t>
            </a:r>
            <a:r>
              <a:rPr lang="en-US" dirty="0"/>
              <a:t> Additive</a:t>
            </a:r>
            <a:r>
              <a:rPr lang="ru-RU" dirty="0"/>
              <a:t> </a:t>
            </a:r>
            <a:r>
              <a:rPr lang="en-US" dirty="0" err="1"/>
              <a:t>exPlanation</a:t>
            </a:r>
            <a:r>
              <a:rPr lang="en-US" dirty="0"/>
              <a:t>)</a:t>
            </a:r>
            <a:endParaRPr lang="ru-RU" dirty="0"/>
          </a:p>
        </p:txBody>
      </p:sp>
      <p:sp>
        <p:nvSpPr>
          <p:cNvPr id="9" name="TextBox 8">
            <a:extLst>
              <a:ext uri="{FF2B5EF4-FFF2-40B4-BE49-F238E27FC236}">
                <a16:creationId xmlns:a16="http://schemas.microsoft.com/office/drawing/2014/main" id="{49A13269-12D1-1EA7-151D-9DC8F74DAAB0}"/>
              </a:ext>
            </a:extLst>
          </p:cNvPr>
          <p:cNvSpPr txBox="1"/>
          <p:nvPr/>
        </p:nvSpPr>
        <p:spPr>
          <a:xfrm>
            <a:off x="850601" y="1542934"/>
            <a:ext cx="2783087" cy="523220"/>
          </a:xfrm>
          <a:prstGeom prst="rect">
            <a:avLst/>
          </a:prstGeom>
          <a:noFill/>
        </p:spPr>
        <p:txBody>
          <a:bodyPr wrap="square" rtlCol="0">
            <a:spAutoFit/>
          </a:bodyPr>
          <a:lstStyle/>
          <a:p>
            <a:r>
              <a:rPr lang="en-US" sz="2800" dirty="0"/>
              <a:t>SHAP properties:</a:t>
            </a:r>
            <a:endParaRPr lang="ru-RU" sz="2800" dirty="0"/>
          </a:p>
        </p:txBody>
      </p:sp>
      <p:sp>
        <p:nvSpPr>
          <p:cNvPr id="3" name="TextBox 2">
            <a:extLst>
              <a:ext uri="{FF2B5EF4-FFF2-40B4-BE49-F238E27FC236}">
                <a16:creationId xmlns:a16="http://schemas.microsoft.com/office/drawing/2014/main" id="{F4D3CAAF-D92C-8AAF-2745-1BBC8AF91AF0}"/>
              </a:ext>
            </a:extLst>
          </p:cNvPr>
          <p:cNvSpPr txBox="1"/>
          <p:nvPr/>
        </p:nvSpPr>
        <p:spPr>
          <a:xfrm>
            <a:off x="838200" y="2302190"/>
            <a:ext cx="2298405" cy="523220"/>
          </a:xfrm>
          <a:prstGeom prst="rect">
            <a:avLst/>
          </a:prstGeom>
          <a:noFill/>
        </p:spPr>
        <p:txBody>
          <a:bodyPr wrap="square" rtlCol="0">
            <a:spAutoFit/>
          </a:bodyPr>
          <a:lstStyle/>
          <a:p>
            <a:r>
              <a:rPr lang="en-US" sz="2800" dirty="0"/>
              <a:t>1. Additivity</a:t>
            </a:r>
            <a:endParaRPr lang="ru-RU" sz="2800" dirty="0"/>
          </a:p>
        </p:txBody>
      </p:sp>
      <p:pic>
        <p:nvPicPr>
          <p:cNvPr id="6" name="Рисунок 5">
            <a:extLst>
              <a:ext uri="{FF2B5EF4-FFF2-40B4-BE49-F238E27FC236}">
                <a16:creationId xmlns:a16="http://schemas.microsoft.com/office/drawing/2014/main" id="{0F605B6E-DC89-03F5-0B7D-65796A07B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6240" y="2041216"/>
            <a:ext cx="3766095" cy="1160215"/>
          </a:xfrm>
          <a:prstGeom prst="rect">
            <a:avLst/>
          </a:prstGeom>
        </p:spPr>
      </p:pic>
      <p:sp>
        <p:nvSpPr>
          <p:cNvPr id="10" name="TextBox 9">
            <a:extLst>
              <a:ext uri="{FF2B5EF4-FFF2-40B4-BE49-F238E27FC236}">
                <a16:creationId xmlns:a16="http://schemas.microsoft.com/office/drawing/2014/main" id="{37A35281-4663-4EFE-1901-C78CCBFB8E5F}"/>
              </a:ext>
            </a:extLst>
          </p:cNvPr>
          <p:cNvSpPr txBox="1"/>
          <p:nvPr/>
        </p:nvSpPr>
        <p:spPr>
          <a:xfrm>
            <a:off x="850600" y="3290349"/>
            <a:ext cx="9048311" cy="954107"/>
          </a:xfrm>
          <a:prstGeom prst="rect">
            <a:avLst/>
          </a:prstGeom>
          <a:noFill/>
        </p:spPr>
        <p:txBody>
          <a:bodyPr wrap="square" rtlCol="0">
            <a:spAutoFit/>
          </a:bodyPr>
          <a:lstStyle/>
          <a:p>
            <a:r>
              <a:rPr lang="ru-RU" sz="2800" dirty="0"/>
              <a:t>2</a:t>
            </a:r>
            <a:r>
              <a:rPr lang="en-US" sz="2800" dirty="0"/>
              <a:t>. Missingness: if feature doesn’t influence performance for all coalitions, then its importance=0 </a:t>
            </a:r>
            <a:endParaRPr lang="ru-RU" sz="2800" dirty="0"/>
          </a:p>
        </p:txBody>
      </p:sp>
      <p:pic>
        <p:nvPicPr>
          <p:cNvPr id="18" name="Рисунок 17">
            <a:extLst>
              <a:ext uri="{FF2B5EF4-FFF2-40B4-BE49-F238E27FC236}">
                <a16:creationId xmlns:a16="http://schemas.microsoft.com/office/drawing/2014/main" id="{1B5F958E-B8F0-44B3-E277-A33587365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2778" y="4285842"/>
            <a:ext cx="5325939" cy="472717"/>
          </a:xfrm>
          <a:prstGeom prst="rect">
            <a:avLst/>
          </a:prstGeom>
        </p:spPr>
      </p:pic>
      <p:sp>
        <p:nvSpPr>
          <p:cNvPr id="19" name="TextBox 18">
            <a:extLst>
              <a:ext uri="{FF2B5EF4-FFF2-40B4-BE49-F238E27FC236}">
                <a16:creationId xmlns:a16="http://schemas.microsoft.com/office/drawing/2014/main" id="{FC08FB62-F4C8-9899-C396-5150D0F66F16}"/>
              </a:ext>
            </a:extLst>
          </p:cNvPr>
          <p:cNvSpPr txBox="1"/>
          <p:nvPr/>
        </p:nvSpPr>
        <p:spPr>
          <a:xfrm>
            <a:off x="850599" y="4989658"/>
            <a:ext cx="10600665" cy="954107"/>
          </a:xfrm>
          <a:prstGeom prst="rect">
            <a:avLst/>
          </a:prstGeom>
          <a:noFill/>
        </p:spPr>
        <p:txBody>
          <a:bodyPr wrap="square" rtlCol="0">
            <a:spAutoFit/>
          </a:bodyPr>
          <a:lstStyle/>
          <a:p>
            <a:r>
              <a:rPr lang="en-US" sz="2800" dirty="0"/>
              <a:t>3. Consistency: if feature in a new model has more impact, then its importance should increase </a:t>
            </a:r>
            <a:endParaRPr lang="ru-RU" sz="2800" dirty="0"/>
          </a:p>
        </p:txBody>
      </p:sp>
      <p:pic>
        <p:nvPicPr>
          <p:cNvPr id="21" name="Рисунок 20">
            <a:extLst>
              <a:ext uri="{FF2B5EF4-FFF2-40B4-BE49-F238E27FC236}">
                <a16:creationId xmlns:a16="http://schemas.microsoft.com/office/drawing/2014/main" id="{BE05F008-4615-0BA6-1094-EFCBD7F4B1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495" y="6127346"/>
            <a:ext cx="4093174" cy="417343"/>
          </a:xfrm>
          <a:prstGeom prst="rect">
            <a:avLst/>
          </a:prstGeom>
        </p:spPr>
      </p:pic>
      <p:pic>
        <p:nvPicPr>
          <p:cNvPr id="23" name="Рисунок 22">
            <a:extLst>
              <a:ext uri="{FF2B5EF4-FFF2-40B4-BE49-F238E27FC236}">
                <a16:creationId xmlns:a16="http://schemas.microsoft.com/office/drawing/2014/main" id="{0C7FA56B-1D07-F24C-4242-2A055D1D93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68965" y="6116716"/>
            <a:ext cx="6182532" cy="439956"/>
          </a:xfrm>
          <a:prstGeom prst="rect">
            <a:avLst/>
          </a:prstGeom>
        </p:spPr>
      </p:pic>
    </p:spTree>
    <p:extLst>
      <p:ext uri="{BB962C8B-B14F-4D97-AF65-F5344CB8AC3E}">
        <p14:creationId xmlns:p14="http://schemas.microsoft.com/office/powerpoint/2010/main" val="1603476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9CD648-47FA-0011-071E-B849E613F741}"/>
              </a:ext>
            </a:extLst>
          </p:cNvPr>
          <p:cNvSpPr>
            <a:spLocks noGrp="1"/>
          </p:cNvSpPr>
          <p:nvPr>
            <p:ph type="title"/>
          </p:nvPr>
        </p:nvSpPr>
        <p:spPr/>
        <p:txBody>
          <a:bodyPr/>
          <a:lstStyle/>
          <a:p>
            <a:r>
              <a:rPr lang="en-US" dirty="0"/>
              <a:t>SHAP example (Student Performance Dataset)</a:t>
            </a:r>
            <a:endParaRPr lang="ru-RU" dirty="0"/>
          </a:p>
        </p:txBody>
      </p:sp>
      <p:pic>
        <p:nvPicPr>
          <p:cNvPr id="5" name="Рисунок 4">
            <a:extLst>
              <a:ext uri="{FF2B5EF4-FFF2-40B4-BE49-F238E27FC236}">
                <a16:creationId xmlns:a16="http://schemas.microsoft.com/office/drawing/2014/main" id="{0C0C854E-6001-676D-C193-11E456EBEE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997" y="1775749"/>
            <a:ext cx="7388214" cy="3806345"/>
          </a:xfrm>
          <a:prstGeom prst="rect">
            <a:avLst/>
          </a:prstGeom>
        </p:spPr>
      </p:pic>
    </p:spTree>
    <p:extLst>
      <p:ext uri="{BB962C8B-B14F-4D97-AF65-F5344CB8AC3E}">
        <p14:creationId xmlns:p14="http://schemas.microsoft.com/office/powerpoint/2010/main" val="6789131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59E5D8E7-886C-95D7-87BF-587F39D2F6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5737" y="197402"/>
            <a:ext cx="5284106" cy="6438001"/>
          </a:xfrm>
          <a:prstGeom prst="rect">
            <a:avLst/>
          </a:prstGeom>
        </p:spPr>
      </p:pic>
    </p:spTree>
    <p:extLst>
      <p:ext uri="{BB962C8B-B14F-4D97-AF65-F5344CB8AC3E}">
        <p14:creationId xmlns:p14="http://schemas.microsoft.com/office/powerpoint/2010/main" val="1459001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69E6A311-7404-C399-9273-960C5DC90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0725" y="608223"/>
            <a:ext cx="8764140" cy="5792574"/>
          </a:xfrm>
          <a:prstGeom prst="rect">
            <a:avLst/>
          </a:prstGeom>
        </p:spPr>
      </p:pic>
    </p:spTree>
    <p:extLst>
      <p:ext uri="{BB962C8B-B14F-4D97-AF65-F5344CB8AC3E}">
        <p14:creationId xmlns:p14="http://schemas.microsoft.com/office/powerpoint/2010/main" val="2914647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3646A607-BD45-7950-4FA0-D0231ADC5D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222" y="501893"/>
            <a:ext cx="8472217" cy="5909533"/>
          </a:xfrm>
          <a:prstGeom prst="rect">
            <a:avLst/>
          </a:prstGeom>
        </p:spPr>
      </p:pic>
    </p:spTree>
    <p:extLst>
      <p:ext uri="{BB962C8B-B14F-4D97-AF65-F5344CB8AC3E}">
        <p14:creationId xmlns:p14="http://schemas.microsoft.com/office/powerpoint/2010/main" val="346318473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1559</Words>
  <Application>Microsoft Office PowerPoint</Application>
  <PresentationFormat>Широкоэкранный</PresentationFormat>
  <Paragraphs>217</Paragraphs>
  <Slides>47</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47</vt:i4>
      </vt:variant>
    </vt:vector>
  </HeadingPairs>
  <TitlesOfParts>
    <vt:vector size="51" baseType="lpstr">
      <vt:lpstr>Arial</vt:lpstr>
      <vt:lpstr>Calibri</vt:lpstr>
      <vt:lpstr>Calibri Light</vt:lpstr>
      <vt:lpstr>Тема Office</vt:lpstr>
      <vt:lpstr>Decision Trees  Feature Importance</vt:lpstr>
      <vt:lpstr>Decision Trees Motivation</vt:lpstr>
      <vt:lpstr>Introduction to Decision Trees</vt:lpstr>
      <vt:lpstr>Introduction to Decision Trees</vt:lpstr>
      <vt:lpstr>Decision Trees</vt:lpstr>
      <vt:lpstr>Decision Tree for prediction</vt:lpstr>
      <vt:lpstr>Types of predicates</vt:lpstr>
      <vt:lpstr>Decision Trees for simple predicates</vt:lpstr>
      <vt:lpstr>Decision Trees for simple predicates</vt:lpstr>
      <vt:lpstr>Training Decision Trees</vt:lpstr>
      <vt:lpstr>Training Decision Trees</vt:lpstr>
      <vt:lpstr>Stopping criteria</vt:lpstr>
      <vt:lpstr>How to find prediction in leaf?</vt:lpstr>
      <vt:lpstr>How to find good predicate?</vt:lpstr>
      <vt:lpstr>Impurity for regression</vt:lpstr>
      <vt:lpstr>Impurity for classification</vt:lpstr>
      <vt:lpstr>Impurity for classification: Gini index</vt:lpstr>
      <vt:lpstr>Impurity for classification: Entropy criterion</vt:lpstr>
      <vt:lpstr>Recap: constrained minimization</vt:lpstr>
      <vt:lpstr>Minimizing Entropy criterion</vt:lpstr>
      <vt:lpstr>Pruning for decision trees</vt:lpstr>
      <vt:lpstr>Cost Complexity Pruning</vt:lpstr>
      <vt:lpstr>Cost Complexity Pruning</vt:lpstr>
      <vt:lpstr>Cost Complexity Pruning</vt:lpstr>
      <vt:lpstr>Cost Complexity Pruning</vt:lpstr>
      <vt:lpstr>Cost Complexity Pruning</vt:lpstr>
      <vt:lpstr>Working with missing/unknown values in decision trees</vt:lpstr>
      <vt:lpstr>Working with categorical features in decision trees</vt:lpstr>
      <vt:lpstr>Working with categorical features in decision trees</vt:lpstr>
      <vt:lpstr>Working with categorical features in decision trees</vt:lpstr>
      <vt:lpstr>Working with categorical features in decision trees</vt:lpstr>
      <vt:lpstr>Decision Tree as a linear classifier</vt:lpstr>
      <vt:lpstr>Feature Importance</vt:lpstr>
      <vt:lpstr>Linear Regression with L2 regularizer</vt:lpstr>
      <vt:lpstr>Linear Regression with L2 regularizer</vt:lpstr>
      <vt:lpstr>Linear Regression with L2 regularizer</vt:lpstr>
      <vt:lpstr>Linear Regression with L1 regularizer</vt:lpstr>
      <vt:lpstr>Linear Regression with L1 regularizer</vt:lpstr>
      <vt:lpstr>Linear Regression with L1 regularizer</vt:lpstr>
      <vt:lpstr>Feature Importance in Decision Trees</vt:lpstr>
      <vt:lpstr>Permutation Feature Importance</vt:lpstr>
      <vt:lpstr>SHAP (SHapley Additive exPlanation)</vt:lpstr>
      <vt:lpstr>SHAP (SHapley Additive exPlanation)</vt:lpstr>
      <vt:lpstr>SHAP example (Student Performance Dataset)</vt:lpstr>
      <vt:lpstr>Презентация PowerPoint</vt:lpstr>
      <vt:lpstr>Презентация PowerPoint</vt:lpstr>
      <vt:lpstr>Презентация PowerPoint</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creator>Николаева</dc:creator>
  <cp:lastModifiedBy>Dmitry Kropotov</cp:lastModifiedBy>
  <cp:revision>385</cp:revision>
  <dcterms:created xsi:type="dcterms:W3CDTF">2016-07-15T17:21:31Z</dcterms:created>
  <dcterms:modified xsi:type="dcterms:W3CDTF">2026-03-20T06:58:26Z</dcterms:modified>
</cp:coreProperties>
</file>